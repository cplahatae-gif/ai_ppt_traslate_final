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703" r:id="rId5"/>
    <p:sldMasterId id="2147483704" r:id="rId6"/>
    <p:sldMasterId id="2147483705" r:id="rId7"/>
    <p:sldMasterId id="2147483706" r:id="rId8"/>
  </p:sldMasterIdLst>
  <p:notesMasterIdLst>
    <p:notesMasterId r:id="rId9"/>
  </p:notesMasterIdLst>
  <p:sldIdLst>
    <p:sldId id="256" r:id="rId10"/>
    <p:sldId id="257" r:id="rId11"/>
    <p:sldId id="258" r:id="rId12"/>
  </p:sldIdLst>
  <p:sldSz cy="6858000" cx="9906000"/>
  <p:notesSz cx="6797675" cy="9926625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35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030A63-20BB-4B03-ABD6-588081B5D786}">
  <a:tblStyle styleId="{4D030A63-20BB-4B03-ABD6-588081B5D78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1298034-BBBA-4FDF-87D9-EFB394205E95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35" orient="horz"/>
        <p:guide pos="31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79488" y="1241425"/>
            <a:ext cx="48387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:notes"/>
          <p:cNvSpPr/>
          <p:nvPr>
            <p:ph idx="2" type="sldImg"/>
          </p:nvPr>
        </p:nvSpPr>
        <p:spPr>
          <a:xfrm>
            <a:off x="979488" y="1241425"/>
            <a:ext cx="48387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:notes"/>
          <p:cNvSpPr/>
          <p:nvPr>
            <p:ph idx="2" type="sldImg"/>
          </p:nvPr>
        </p:nvSpPr>
        <p:spPr>
          <a:xfrm>
            <a:off x="979488" y="1241425"/>
            <a:ext cx="48387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2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:notes"/>
          <p:cNvSpPr txBox="1"/>
          <p:nvPr>
            <p:ph idx="12" type="sldNum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:notes"/>
          <p:cNvSpPr/>
          <p:nvPr>
            <p:ph idx="2" type="sldImg"/>
          </p:nvPr>
        </p:nvSpPr>
        <p:spPr>
          <a:xfrm>
            <a:off x="979488" y="1241425"/>
            <a:ext cx="48387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3:notes"/>
          <p:cNvSpPr txBox="1"/>
          <p:nvPr>
            <p:ph idx="1" type="body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:notes"/>
          <p:cNvSpPr txBox="1"/>
          <p:nvPr>
            <p:ph idx="12" type="sldNum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사용자 지정 레이아웃" showMasterSp="0">
  <p:cSld name="3_사용자 지정 레이아웃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11;p2"/>
          <p:cNvCxnSpPr/>
          <p:nvPr/>
        </p:nvCxnSpPr>
        <p:spPr>
          <a:xfrm>
            <a:off x="665756" y="2636912"/>
            <a:ext cx="857449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716587" y="1948484"/>
            <a:ext cx="5017720" cy="501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953"/>
              <a:buFont typeface="Arial"/>
              <a:buNone/>
              <a:defRPr b="1" i="0" sz="2953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body"/>
          </p:nvPr>
        </p:nvSpPr>
        <p:spPr>
          <a:xfrm>
            <a:off x="6915431" y="2767887"/>
            <a:ext cx="2410468" cy="2969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77"/>
              <a:buFont typeface="Arial"/>
              <a:buNone/>
              <a:defRPr b="1" i="0" sz="1477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body"/>
          </p:nvPr>
        </p:nvSpPr>
        <p:spPr>
          <a:xfrm>
            <a:off x="716589" y="3173484"/>
            <a:ext cx="918841" cy="2025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22389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77"/>
              <a:buFont typeface="Arial"/>
              <a:buAutoNum type="arabicPeriod"/>
              <a:defRPr b="1" i="0" sz="1477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10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body"/>
          </p:nvPr>
        </p:nvSpPr>
        <p:spPr>
          <a:xfrm>
            <a:off x="7701735" y="6089230"/>
            <a:ext cx="1624163" cy="347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46"/>
              <a:buFont typeface="Arial"/>
              <a:buNone/>
              <a:defRPr b="1" i="0" sz="1845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C:\Users\msk\Desktop\body_swoop.png"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9" y="-220"/>
            <a:ext cx="9902318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-1" y="6597352"/>
            <a:ext cx="9906308" cy="26064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61"/>
              <a:buFont typeface="Calibri"/>
              <a:buNone/>
            </a:pPr>
            <a:r>
              <a:t/>
            </a:r>
            <a:endParaRPr b="0" i="0" sz="1661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제목 및 내용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20" name="Google Shape;20;p3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538CD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4"/>
          <p:cNvCxnSpPr/>
          <p:nvPr/>
        </p:nvCxnSpPr>
        <p:spPr>
          <a:xfrm>
            <a:off x="852387" y="2259819"/>
            <a:ext cx="8205069" cy="0"/>
          </a:xfrm>
          <a:prstGeom prst="straightConnector1">
            <a:avLst/>
          </a:prstGeom>
          <a:solidFill>
            <a:srgbClr val="4F81BD"/>
          </a:solidFill>
          <a:ln cap="flat" cmpd="sng" w="3175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2777340" y="2925362"/>
            <a:ext cx="4259112" cy="2870000"/>
          </a:xfrm>
          <a:prstGeom prst="rect">
            <a:avLst/>
          </a:prstGeom>
          <a:noFill/>
          <a:ln cap="flat" cmpd="dbl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ctrTitle"/>
          </p:nvPr>
        </p:nvSpPr>
        <p:spPr>
          <a:xfrm>
            <a:off x="742950" y="2130434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0" type="dt"/>
          </p:nvPr>
        </p:nvSpPr>
        <p:spPr>
          <a:xfrm>
            <a:off x="495300" y="6356359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7099300" y="6356359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슬라이드">
  <p:cSld name="2_제목 슬라이드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7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제목 슬라이드">
  <p:cSld name="3_제목 슬라이드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8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제목 슬라이드">
  <p:cSld name="4_제목 슬라이드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9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제목 슬라이드">
  <p:cSld name="5_제목 슬라이드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0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제목 슬라이드">
  <p:cSld name="6_제목 슬라이드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1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제목 슬라이드">
  <p:cSld name="8_제목 슬라이드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2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제목 슬라이드">
  <p:cSld name="9_제목 슬라이드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3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제목 슬라이드">
  <p:cSld name="10_제목 슬라이드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4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제목 슬라이드">
  <p:cSld name="11_제목 슬라이드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제목 슬라이드">
  <p:cSld name="12_제목 슬라이드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제목 슬라이드">
  <p:cSld name="13_제목 슬라이드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제목 슬라이드">
  <p:cSld name="14_제목 슬라이드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제목 슬라이드">
  <p:cSld name="7_제목 슬라이드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9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type="ctrTitle"/>
          </p:nvPr>
        </p:nvSpPr>
        <p:spPr>
          <a:xfrm>
            <a:off x="742950" y="2130435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" type="subTitle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10" type="dt"/>
          </p:nvPr>
        </p:nvSpPr>
        <p:spPr>
          <a:xfrm>
            <a:off x="495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1" type="ftr"/>
          </p:nvPr>
        </p:nvSpPr>
        <p:spPr>
          <a:xfrm>
            <a:off x="3236809" y="530121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7099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102" name="Google Shape;102;p21"/>
          <p:cNvCxnSpPr/>
          <p:nvPr/>
        </p:nvCxnSpPr>
        <p:spPr>
          <a:xfrm>
            <a:off x="0" y="404664"/>
            <a:ext cx="9906000" cy="0"/>
          </a:xfrm>
          <a:prstGeom prst="straightConnector1">
            <a:avLst/>
          </a:prstGeom>
          <a:noFill/>
          <a:ln cap="flat" cmpd="sng" w="25400">
            <a:solidFill>
              <a:srgbClr val="92CCD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0" type="dt"/>
          </p:nvPr>
        </p:nvSpPr>
        <p:spPr>
          <a:xfrm>
            <a:off x="495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1" type="ftr"/>
          </p:nvPr>
        </p:nvSpPr>
        <p:spPr>
          <a:xfrm>
            <a:off x="3384550" y="635636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2" type="sldNum"/>
          </p:nvPr>
        </p:nvSpPr>
        <p:spPr>
          <a:xfrm>
            <a:off x="7099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109" name="Google Shape;109;p22"/>
          <p:cNvCxnSpPr/>
          <p:nvPr/>
        </p:nvCxnSpPr>
        <p:spPr>
          <a:xfrm>
            <a:off x="0" y="404664"/>
            <a:ext cx="9906000" cy="0"/>
          </a:xfrm>
          <a:prstGeom prst="straightConnector1">
            <a:avLst/>
          </a:prstGeom>
          <a:noFill/>
          <a:ln cap="flat" cmpd="sng" w="25400">
            <a:solidFill>
              <a:srgbClr val="92CCD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782638" y="4406910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algun Gothic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" type="body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3" name="Google Shape;113;p23"/>
          <p:cNvSpPr txBox="1"/>
          <p:nvPr>
            <p:ph idx="10" type="dt"/>
          </p:nvPr>
        </p:nvSpPr>
        <p:spPr>
          <a:xfrm>
            <a:off x="495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1" type="ftr"/>
          </p:nvPr>
        </p:nvSpPr>
        <p:spPr>
          <a:xfrm>
            <a:off x="3384550" y="635636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2" type="sldNum"/>
          </p:nvPr>
        </p:nvSpPr>
        <p:spPr>
          <a:xfrm>
            <a:off x="7099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495304" y="1600206"/>
            <a:ext cx="4381501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9" name="Google Shape;119;p24"/>
          <p:cNvSpPr txBox="1"/>
          <p:nvPr>
            <p:ph idx="2" type="body"/>
          </p:nvPr>
        </p:nvSpPr>
        <p:spPr>
          <a:xfrm>
            <a:off x="5029200" y="1600206"/>
            <a:ext cx="4381501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0" name="Google Shape;120;p24"/>
          <p:cNvSpPr txBox="1"/>
          <p:nvPr>
            <p:ph idx="10" type="dt"/>
          </p:nvPr>
        </p:nvSpPr>
        <p:spPr>
          <a:xfrm>
            <a:off x="495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1" type="ftr"/>
          </p:nvPr>
        </p:nvSpPr>
        <p:spPr>
          <a:xfrm>
            <a:off x="3384550" y="635636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2" type="sldNum"/>
          </p:nvPr>
        </p:nvSpPr>
        <p:spPr>
          <a:xfrm>
            <a:off x="7099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" type="body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25"/>
          <p:cNvSpPr txBox="1"/>
          <p:nvPr>
            <p:ph idx="2" type="body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7" name="Google Shape;127;p25"/>
          <p:cNvSpPr txBox="1"/>
          <p:nvPr>
            <p:ph idx="3" type="body"/>
          </p:nvPr>
        </p:nvSpPr>
        <p:spPr>
          <a:xfrm>
            <a:off x="5032381" y="1535113"/>
            <a:ext cx="43783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8" name="Google Shape;128;p25"/>
          <p:cNvSpPr txBox="1"/>
          <p:nvPr>
            <p:ph idx="4" type="body"/>
          </p:nvPr>
        </p:nvSpPr>
        <p:spPr>
          <a:xfrm>
            <a:off x="5032381" y="2174875"/>
            <a:ext cx="437832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9" name="Google Shape;129;p25"/>
          <p:cNvSpPr txBox="1"/>
          <p:nvPr>
            <p:ph idx="10" type="dt"/>
          </p:nvPr>
        </p:nvSpPr>
        <p:spPr>
          <a:xfrm>
            <a:off x="495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1" type="ftr"/>
          </p:nvPr>
        </p:nvSpPr>
        <p:spPr>
          <a:xfrm>
            <a:off x="3384550" y="635636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7099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0" type="dt"/>
          </p:nvPr>
        </p:nvSpPr>
        <p:spPr>
          <a:xfrm>
            <a:off x="495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1" type="ftr"/>
          </p:nvPr>
        </p:nvSpPr>
        <p:spPr>
          <a:xfrm>
            <a:off x="3384550" y="635636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7099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idx="10" type="dt"/>
          </p:nvPr>
        </p:nvSpPr>
        <p:spPr>
          <a:xfrm>
            <a:off x="495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1" type="ftr"/>
          </p:nvPr>
        </p:nvSpPr>
        <p:spPr>
          <a:xfrm>
            <a:off x="3384550" y="635636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7099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495301" y="273050"/>
            <a:ext cx="3259138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3873500" y="273054"/>
            <a:ext cx="5537201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4" name="Google Shape;144;p28"/>
          <p:cNvSpPr txBox="1"/>
          <p:nvPr>
            <p:ph idx="2" type="body"/>
          </p:nvPr>
        </p:nvSpPr>
        <p:spPr>
          <a:xfrm>
            <a:off x="495301" y="1435103"/>
            <a:ext cx="3259138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5" name="Google Shape;145;p28"/>
          <p:cNvSpPr txBox="1"/>
          <p:nvPr>
            <p:ph idx="10" type="dt"/>
          </p:nvPr>
        </p:nvSpPr>
        <p:spPr>
          <a:xfrm>
            <a:off x="495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1" type="ftr"/>
          </p:nvPr>
        </p:nvSpPr>
        <p:spPr>
          <a:xfrm>
            <a:off x="3384550" y="6093299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8"/>
          <p:cNvSpPr txBox="1"/>
          <p:nvPr>
            <p:ph idx="12" type="sldNum"/>
          </p:nvPr>
        </p:nvSpPr>
        <p:spPr>
          <a:xfrm>
            <a:off x="7099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9"/>
          <p:cNvSpPr/>
          <p:nvPr>
            <p:ph idx="2" type="pic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2" name="Google Shape;152;p29"/>
          <p:cNvSpPr txBox="1"/>
          <p:nvPr>
            <p:ph idx="10" type="dt"/>
          </p:nvPr>
        </p:nvSpPr>
        <p:spPr>
          <a:xfrm>
            <a:off x="495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9"/>
          <p:cNvSpPr txBox="1"/>
          <p:nvPr>
            <p:ph idx="11" type="ftr"/>
          </p:nvPr>
        </p:nvSpPr>
        <p:spPr>
          <a:xfrm>
            <a:off x="3384550" y="635636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9"/>
          <p:cNvSpPr txBox="1"/>
          <p:nvPr>
            <p:ph idx="12" type="sldNum"/>
          </p:nvPr>
        </p:nvSpPr>
        <p:spPr>
          <a:xfrm>
            <a:off x="7099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 rot="5400000">
            <a:off x="2690019" y="-594512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0" type="dt"/>
          </p:nvPr>
        </p:nvSpPr>
        <p:spPr>
          <a:xfrm>
            <a:off x="495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1" type="ftr"/>
          </p:nvPr>
        </p:nvSpPr>
        <p:spPr>
          <a:xfrm>
            <a:off x="3384550" y="635636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0"/>
          <p:cNvSpPr txBox="1"/>
          <p:nvPr>
            <p:ph idx="12" type="sldNum"/>
          </p:nvPr>
        </p:nvSpPr>
        <p:spPr>
          <a:xfrm>
            <a:off x="7099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 rot="5400000">
            <a:off x="5370513" y="2085979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1"/>
          <p:cNvSpPr txBox="1"/>
          <p:nvPr>
            <p:ph idx="1" type="body"/>
          </p:nvPr>
        </p:nvSpPr>
        <p:spPr>
          <a:xfrm rot="5400000">
            <a:off x="836617" y="-66671"/>
            <a:ext cx="5851525" cy="6534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31"/>
          <p:cNvSpPr txBox="1"/>
          <p:nvPr>
            <p:ph idx="10" type="dt"/>
          </p:nvPr>
        </p:nvSpPr>
        <p:spPr>
          <a:xfrm>
            <a:off x="495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1"/>
          <p:cNvSpPr txBox="1"/>
          <p:nvPr>
            <p:ph idx="11" type="ftr"/>
          </p:nvPr>
        </p:nvSpPr>
        <p:spPr>
          <a:xfrm>
            <a:off x="3384550" y="635636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1"/>
          <p:cNvSpPr txBox="1"/>
          <p:nvPr>
            <p:ph idx="12" type="sldNum"/>
          </p:nvPr>
        </p:nvSpPr>
        <p:spPr>
          <a:xfrm>
            <a:off x="7099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type="ctrTitle"/>
          </p:nvPr>
        </p:nvSpPr>
        <p:spPr>
          <a:xfrm>
            <a:off x="742950" y="2130434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3"/>
          <p:cNvSpPr txBox="1"/>
          <p:nvPr>
            <p:ph idx="1" type="subTitle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33"/>
          <p:cNvSpPr txBox="1"/>
          <p:nvPr>
            <p:ph idx="10" type="dt"/>
          </p:nvPr>
        </p:nvSpPr>
        <p:spPr>
          <a:xfrm>
            <a:off x="495300" y="6356359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3"/>
          <p:cNvSpPr txBox="1"/>
          <p:nvPr>
            <p:ph idx="12" type="sldNum"/>
          </p:nvPr>
        </p:nvSpPr>
        <p:spPr>
          <a:xfrm>
            <a:off x="3224808" y="6356359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34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34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슬라이드">
  <p:cSld name="2_제목 슬라이드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5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35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35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제목 슬라이드">
  <p:cSld name="3_제목 슬라이드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6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36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36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제목 슬라이드">
  <p:cSld name="4_제목 슬라이드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7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37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37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제목 슬라이드">
  <p:cSld name="5_제목 슬라이드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38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38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제목 슬라이드">
  <p:cSld name="6_제목 슬라이드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39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39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제목 슬라이드">
  <p:cSld name="8_제목 슬라이드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40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40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제목 슬라이드">
  <p:cSld name="9_제목 슬라이드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1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41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41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제목 슬라이드">
  <p:cSld name="10_제목 슬라이드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2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42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3" name="Google Shape;213;p42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제목 슬라이드">
  <p:cSld name="11_제목 슬라이드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3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p43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43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제목 슬라이드">
  <p:cSld name="12_제목 슬라이드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4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44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44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제목 슬라이드">
  <p:cSld name="13_제목 슬라이드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5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45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" name="Google Shape;225;p45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제목 슬라이드">
  <p:cSld name="14_제목 슬라이드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6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46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46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제목 슬라이드">
  <p:cSld name="7_제목 슬라이드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7"/>
          <p:cNvSpPr txBox="1"/>
          <p:nvPr>
            <p:ph idx="1" type="body"/>
          </p:nvPr>
        </p:nvSpPr>
        <p:spPr>
          <a:xfrm>
            <a:off x="154781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" name="Google Shape;232;p47"/>
          <p:cNvSpPr txBox="1"/>
          <p:nvPr>
            <p:ph idx="2" type="body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47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/목차 슬라이드">
  <p:cSld name="제목/목차 슬라이드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8"/>
          <p:cNvSpPr txBox="1"/>
          <p:nvPr>
            <p:ph idx="12" type="sldNum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r>
              <a:rPr lang="ko-KR"/>
              <a:t>/44</a:t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/목차 슬라이드">
  <p:cSld name="1_제목/목차 슬라이드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9"/>
          <p:cNvSpPr txBox="1"/>
          <p:nvPr>
            <p:ph idx="12" type="sldNum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r>
              <a:rPr lang="ko-KR"/>
              <a:t>/44</a:t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별첨 슬라이드">
  <p:cSld name="1_별첨 슬라이드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/목차 슬라이드">
  <p:cSld name="2_제목/목차 슬라이드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1"/>
          <p:cNvSpPr txBox="1"/>
          <p:nvPr>
            <p:ph idx="12" type="sldNum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r>
              <a:rPr lang="ko-KR"/>
              <a:t>/44</a:t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별첨 슬라이드">
  <p:cSld name="2_별첨 슬라이드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제목/목차 슬라이드">
  <p:cSld name="3_제목/목차 슬라이드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3"/>
          <p:cNvSpPr txBox="1"/>
          <p:nvPr>
            <p:ph idx="12" type="sldNum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r>
              <a:rPr lang="ko-KR"/>
              <a:t>/44</a:t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제목/목차 슬라이드">
  <p:cSld name="4_제목/목차 슬라이드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4"/>
          <p:cNvSpPr txBox="1"/>
          <p:nvPr>
            <p:ph idx="12" type="sldNum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r>
              <a:rPr lang="ko-KR"/>
              <a:t>/44</a:t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g 본문 슬라이드">
  <p:cSld name="Slag 본문 슬라이드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Google Shape;247;p55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55"/>
          <p:cNvSpPr txBox="1"/>
          <p:nvPr>
            <p:ph idx="12" type="sldNum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r>
              <a:rPr lang="ko-KR"/>
              <a:t>/44</a:t>
            </a:r>
            <a:endParaRPr/>
          </a:p>
        </p:txBody>
      </p:sp>
      <p:sp>
        <p:nvSpPr>
          <p:cNvPr id="249" name="Google Shape;249;p55"/>
          <p:cNvSpPr txBox="1"/>
          <p:nvPr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Slag 부문</a:t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 본문 슬라이드">
  <p:cSld name="FA 본문 슬라이드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" name="Google Shape;251;p56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56"/>
          <p:cNvSpPr txBox="1"/>
          <p:nvPr>
            <p:ph idx="12" type="sldNum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r>
              <a:rPr lang="ko-KR"/>
              <a:t>/44</a:t>
            </a:r>
            <a:endParaRPr/>
          </a:p>
        </p:txBody>
      </p:sp>
      <p:sp>
        <p:nvSpPr>
          <p:cNvPr id="253" name="Google Shape;253;p56"/>
          <p:cNvSpPr txBox="1"/>
          <p:nvPr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FA 부문</a:t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물류/고정비/인원 본문 슬라이드">
  <p:cSld name="물류/고정비/인원 본문 슬라이드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57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57"/>
          <p:cNvSpPr txBox="1"/>
          <p:nvPr>
            <p:ph idx="12" type="sldNum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4F81BD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r>
              <a:rPr lang="ko-KR"/>
              <a:t>/44</a:t>
            </a:r>
            <a:endParaRPr/>
          </a:p>
        </p:txBody>
      </p:sp>
      <p:sp>
        <p:nvSpPr>
          <p:cNvPr id="257" name="Google Shape;257;p57"/>
          <p:cNvSpPr txBox="1"/>
          <p:nvPr/>
        </p:nvSpPr>
        <p:spPr>
          <a:xfrm>
            <a:off x="25755" y="6515406"/>
            <a:ext cx="22728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물류/고정비/인원</a:t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별첨 슬라이드">
  <p:cSld name="3_별첨 슬라이드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9" name="Google Shape;259;p58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제목 및 내용">
  <p:cSld name="6_제목 및 내용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9"/>
          <p:cNvSpPr txBox="1"/>
          <p:nvPr/>
        </p:nvSpPr>
        <p:spPr>
          <a:xfrm>
            <a:off x="4566681" y="6616020"/>
            <a:ext cx="771612" cy="24198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825"/>
              <a:buFont typeface="Noto Sans Symbols"/>
              <a:buNone/>
            </a:pPr>
            <a:r>
              <a:rPr b="0" i="0" lang="ko-KR" sz="11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fld id="{00000000-1234-1234-1234-123412341234}" type="slidenum">
              <a:rPr b="0" i="0" lang="ko-KR" sz="11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r>
              <a:rPr b="0" i="0" lang="ko-KR" sz="11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 / 17 -</a:t>
            </a:r>
            <a:endParaRPr b="0" i="0" sz="11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62" name="Google Shape;262;p59"/>
          <p:cNvGrpSpPr/>
          <p:nvPr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263" name="Google Shape;263;p5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4" name="Google Shape;264;p59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538CD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5" Type="http://schemas.openxmlformats.org/officeDocument/2006/relationships/theme" Target="../theme/theme5.xml"/><Relationship Id="rId1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51.xml"/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53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55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495300" y="6356359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3384550" y="6356359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7099300" y="6356359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0" name="Google Shape;90;p20"/>
          <p:cNvSpPr txBox="1"/>
          <p:nvPr>
            <p:ph idx="1" type="body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1" name="Google Shape;91;p20"/>
          <p:cNvSpPr txBox="1"/>
          <p:nvPr>
            <p:ph idx="10" type="dt"/>
          </p:nvPr>
        </p:nvSpPr>
        <p:spPr>
          <a:xfrm>
            <a:off x="495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2" name="Google Shape;92;p20"/>
          <p:cNvSpPr txBox="1"/>
          <p:nvPr>
            <p:ph idx="11" type="ftr"/>
          </p:nvPr>
        </p:nvSpPr>
        <p:spPr>
          <a:xfrm>
            <a:off x="3384550" y="635636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7099300" y="635636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94" name="Google Shape;94;p20"/>
          <p:cNvSpPr txBox="1"/>
          <p:nvPr/>
        </p:nvSpPr>
        <p:spPr>
          <a:xfrm>
            <a:off x="3793728" y="6669370"/>
            <a:ext cx="2311400" cy="132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5" name="Google Shape;95;p20"/>
          <p:cNvCxnSpPr/>
          <p:nvPr/>
        </p:nvCxnSpPr>
        <p:spPr>
          <a:xfrm>
            <a:off x="0" y="404664"/>
            <a:ext cx="9906000" cy="0"/>
          </a:xfrm>
          <a:prstGeom prst="straightConnector1">
            <a:avLst/>
          </a:prstGeom>
          <a:noFill/>
          <a:ln cap="flat" cmpd="sng" w="25400">
            <a:solidFill>
              <a:srgbClr val="92CCD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9" name="Google Shape;169;p32"/>
          <p:cNvSpPr txBox="1"/>
          <p:nvPr>
            <p:ph idx="1" type="body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70" name="Google Shape;170;p32"/>
          <p:cNvSpPr txBox="1"/>
          <p:nvPr>
            <p:ph idx="10" type="dt"/>
          </p:nvPr>
        </p:nvSpPr>
        <p:spPr>
          <a:xfrm>
            <a:off x="495300" y="6356359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71" name="Google Shape;171;p32"/>
          <p:cNvSpPr txBox="1"/>
          <p:nvPr>
            <p:ph idx="11" type="ftr"/>
          </p:nvPr>
        </p:nvSpPr>
        <p:spPr>
          <a:xfrm>
            <a:off x="6273800" y="6356358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72" name="Google Shape;172;p32"/>
          <p:cNvSpPr txBox="1"/>
          <p:nvPr>
            <p:ph idx="12" type="sldNum"/>
          </p:nvPr>
        </p:nvSpPr>
        <p:spPr>
          <a:xfrm>
            <a:off x="3224808" y="6356359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0"/>
          <p:cNvSpPr txBox="1"/>
          <p:nvPr>
            <p:ph idx="1" type="body"/>
          </p:nvPr>
        </p:nvSpPr>
        <p:spPr>
          <a:xfrm>
            <a:off x="1936419" y="1944528"/>
            <a:ext cx="5968878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ko-KR" sz="2800"/>
              <a:t>[Aggregate Anseong Plant] Electric Shock RCA Report</a:t>
            </a:r>
            <a:endParaRPr/>
          </a:p>
        </p:txBody>
      </p:sp>
      <p:sp>
        <p:nvSpPr>
          <p:cNvPr id="270" name="Google Shape;270;p60"/>
          <p:cNvSpPr txBox="1"/>
          <p:nvPr>
            <p:ph idx="4" type="body"/>
          </p:nvPr>
        </p:nvSpPr>
        <p:spPr>
          <a:xfrm>
            <a:off x="7596216" y="5938959"/>
            <a:ext cx="1210588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ko-KR" sz="1600">
                <a:solidFill>
                  <a:srgbClr val="3F3F3F"/>
                </a:solidFill>
              </a:rPr>
              <a:t>Anseong Plant</a:t>
            </a:r>
            <a:endParaRPr sz="1600">
              <a:solidFill>
                <a:srgbClr val="3F3F3F"/>
              </a:solidFill>
            </a:endParaRPr>
          </a:p>
        </p:txBody>
      </p:sp>
      <p:sp>
        <p:nvSpPr>
          <p:cNvPr id="271" name="Google Shape;271;p60"/>
          <p:cNvSpPr txBox="1"/>
          <p:nvPr/>
        </p:nvSpPr>
        <p:spPr>
          <a:xfrm>
            <a:off x="4388033" y="5499518"/>
            <a:ext cx="124264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2024.10.02</a:t>
            </a:r>
            <a:endParaRPr b="1" i="0" sz="16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" name="Google Shape;272;p60"/>
          <p:cNvSpPr txBox="1"/>
          <p:nvPr/>
        </p:nvSpPr>
        <p:spPr>
          <a:xfrm>
            <a:off x="1037432" y="3445466"/>
            <a:ext cx="5544616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I. RCA Attendees</a:t>
            </a:r>
            <a:endParaRPr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II. Accident Summary</a:t>
            </a:r>
            <a:endParaRPr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III. Root Cause Analysis (RCA)</a:t>
            </a:r>
            <a:endParaRPr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IV. Recurrence Prevention Measures</a:t>
            </a:r>
            <a:endParaRPr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5938" y="5398631"/>
            <a:ext cx="1891144" cy="540328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60"/>
          <p:cNvSpPr txBox="1"/>
          <p:nvPr/>
        </p:nvSpPr>
        <p:spPr>
          <a:xfrm>
            <a:off x="4505052" y="3092719"/>
            <a:ext cx="112562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- Table of Contents -</a:t>
            </a:r>
            <a:endParaRPr b="0" i="0" sz="16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0" name="Google Shape;280;p61"/>
          <p:cNvGraphicFramePr/>
          <p:nvPr/>
        </p:nvGraphicFramePr>
        <p:xfrm>
          <a:off x="619585" y="7035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{4D030A63-20BB-4B03-ABD6-588081B5D786}</a:tableStyleId>
              </a:tblPr>
              <a:tblGrid>
                <a:gridCol w="388925"/>
                <a:gridCol w="636875"/>
                <a:gridCol w="2059850"/>
                <a:gridCol w="1218750"/>
              </a:tblGrid>
              <a:tr h="327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/>
                    </a:p>
                  </a:txBody>
                  <a:tcPr marT="42200" marB="42200" marR="84400" marL="844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2200" marB="42200" marR="84400" marL="844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/ Affiliation 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2200" marB="42200" marR="84400" marL="844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Position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2200" marB="42200" marR="84400" marL="844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294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b="1" i="0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Gochang-su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365"/>
                        <a:buFont typeface="Calibri"/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 Nature Co., Ltd. / Environment &amp; Safety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CSO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b="1" i="0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Yu Min-chul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70"/>
                        <a:buFont typeface="Calibri"/>
                        <a:buNone/>
                      </a:pPr>
                      <a:r>
                        <a:rPr lang="ko-KR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 Nature Co., Ltd. / Construction Materials Safety Part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Safety Part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9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b="1" i="0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Kim Ho-gyeom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70"/>
                        <a:buFont typeface="Calibri"/>
                        <a:buNone/>
                      </a:pPr>
                      <a:r>
                        <a:rPr lang="ko-KR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 Nature Co., Ltd. / Construction Materials Safety Part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Safety Part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94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b="1" i="0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Kim Jun-hee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365"/>
                        <a:buFont typeface="Calibri"/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 Nature Co., Ltd. / Anseong Plant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Production Team Leader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94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b="1" i="0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Kim Won-gyu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365"/>
                        <a:buFont typeface="Calibri"/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 Nature Co., Ltd. / Anseong Plant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Safety Officer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b="1" i="0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Lee Se-no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365"/>
                        <a:buFont typeface="Calibri"/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 Nature Co., Ltd. / Yesan Plant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Plant Manager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6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b="1" i="0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Lee Woo-su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365"/>
                        <a:buFont typeface="Calibri"/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 Nature Co., Ltd. / Yesan Plant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Safety Officer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6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b="1" i="0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Han Jae-hyeok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365"/>
                        <a:buFont typeface="Calibri"/>
                        <a:buNone/>
                      </a:pPr>
                      <a:r>
                        <a:rPr lang="ko-KR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 Nature Co., Ltd. / Yesan Plant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Production Team Leader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81" name="Google Shape;281;p61"/>
          <p:cNvGraphicFramePr/>
          <p:nvPr/>
        </p:nvGraphicFramePr>
        <p:xfrm>
          <a:off x="675809" y="38307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{A1298034-BBBA-4FDF-87D9-EFB394205E95}</a:tableStyleId>
              </a:tblPr>
              <a:tblGrid>
                <a:gridCol w="4295075"/>
                <a:gridCol w="4295075"/>
              </a:tblGrid>
              <a:tr h="35852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solidFill>
                            <a:srgbClr val="3F3F3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Meeting Photo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</a:tr>
              <a:tr h="2542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100" u="none" cap="none" strike="noStrike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100" u="none" cap="none" strike="noStrike">
                        <a:solidFill>
                          <a:srgbClr val="3F3F3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82" name="Google Shape;282;p61"/>
          <p:cNvGraphicFramePr/>
          <p:nvPr/>
        </p:nvGraphicFramePr>
        <p:xfrm>
          <a:off x="5013581" y="7101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{4D030A63-20BB-4B03-ABD6-588081B5D786}</a:tableStyleId>
              </a:tblPr>
              <a:tblGrid>
                <a:gridCol w="388925"/>
                <a:gridCol w="636875"/>
                <a:gridCol w="2009250"/>
                <a:gridCol w="1269350"/>
              </a:tblGrid>
              <a:tr h="36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/>
                    </a:p>
                  </a:txBody>
                  <a:tcPr marT="42200" marB="42200" marR="84400" marL="844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2200" marB="42200" marR="84400" marL="844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/ Affiliation 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2200" marB="42200" marR="84400" marL="844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Position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2200" marB="42200" marR="84400" marL="844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b="1" i="0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 Bae-woo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Hongmyeong Industry Co., Ltd.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Plant Manager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b="1" i="0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Hwang Young-seon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Hongmyeong Industry Co., Ltd.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Safety Officer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b="1" i="0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b="1" i="0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b="1" i="0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b="1" i="0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b="1" i="0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rPr b="1" i="0" lang="ko-KR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30"/>
                        <a:buFont typeface="Calibri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3" name="Google Shape;283;p61"/>
          <p:cNvSpPr/>
          <p:nvPr/>
        </p:nvSpPr>
        <p:spPr>
          <a:xfrm>
            <a:off x="163901" y="78297"/>
            <a:ext cx="3717157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Ⅰ. RCA Attendees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1"/>
          <p:cNvSpPr txBox="1"/>
          <p:nvPr/>
        </p:nvSpPr>
        <p:spPr>
          <a:xfrm>
            <a:off x="6206198" y="35532"/>
            <a:ext cx="3699802" cy="393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lang="ko-KR">
                <a:latin typeface="Calibri"/>
                <a:ea typeface="Calibri"/>
                <a:cs typeface="Calibri"/>
                <a:sym typeface="Calibri"/>
              </a:rPr>
              <a:t>RCA(Root Cause Analysis)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6305" y="4223109"/>
            <a:ext cx="5495330" cy="2404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1" name="Google Shape;291;p62"/>
          <p:cNvGraphicFramePr/>
          <p:nvPr/>
        </p:nvGraphicFramePr>
        <p:xfrm>
          <a:off x="4826719" y="9562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{4D030A63-20BB-4B03-ABD6-588081B5D786}</a:tableStyleId>
              </a:tblPr>
              <a:tblGrid>
                <a:gridCol w="4832675"/>
              </a:tblGrid>
              <a:tr h="31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Disaster situation map (photo)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19850"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92" name="Google Shape;292;p62"/>
          <p:cNvGraphicFramePr/>
          <p:nvPr/>
        </p:nvGraphicFramePr>
        <p:xfrm>
          <a:off x="298230" y="9562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{4D030A63-20BB-4B03-ABD6-588081B5D786}</a:tableStyleId>
              </a:tblPr>
              <a:tblGrid>
                <a:gridCol w="1041825"/>
                <a:gridCol w="1275575"/>
                <a:gridCol w="876150"/>
                <a:gridCol w="1270450"/>
              </a:tblGrid>
              <a:tr h="30585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ko-KR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Disaster occurrence status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33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ko-K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 Date / Location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Fri., 2024.09.27, around 10:45 AM / Panel room</a:t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 hMerge="1"/>
              </a:tr>
              <a:tr h="43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 Injured person / Affiliation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Manager Eun-taek Kim /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Anseong Plant Production Team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 Gender / Age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Male / 30 years old</a:t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3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 Accident type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Electrocution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 Degree of damage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Burns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(under hospital treatment)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226425">
                <a:tc gridSpan="4">
                  <a:txBody>
                    <a:bodyPr/>
                    <a:lstStyle/>
                    <a:p>
                      <a:pPr indent="0" lvl="1" marL="88900" marR="0" rtl="0" algn="l">
                        <a:lnSpc>
                          <a:spcPct val="16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□ Accident details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1" marL="88900" marR="0" rtl="0" algn="l">
                        <a:lnSpc>
                          <a:spcPct val="16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∙ On Friday, Sept. 27, 2024, at approximately 10:45 AM, Manager Eun-taek Kim of the Anseong Plant Production Team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1" marL="88900" marR="0" rtl="0" algn="l">
                        <a:lnSpc>
                          <a:spcPct val="16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opened a panel in the on-site substation room to check whether corrective actions were taken for deficiencies found during equipment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1" marL="88900" marR="0" rtl="0" algn="l">
                        <a:lnSpc>
                          <a:spcPct val="16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inspections conducted in August (dust accumulation inside the VCB panel). While blowing air into the panel to remove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1" marL="88900" marR="0" rtl="0" algn="l">
                        <a:lnSpc>
                          <a:spcPct val="16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the dust inside, he was electrocuted.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1" marL="88900" marR="0" rtl="0" algn="l">
                        <a:lnSpc>
                          <a:spcPct val="16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※ Treated for burns at Osong Vestian Hospital and currently hospitalized at Yeongdeungpo Hangang Sacred Heart Hospital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1" marL="88900" marR="0" rtl="0" algn="l">
                        <a:lnSpc>
                          <a:spcPct val="16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1" marL="88900" marR="0" rtl="0" algn="l">
                        <a:lnSpc>
                          <a:spcPct val="16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□ Causes of the accident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1" marL="88900" marR="0" rtl="0" algn="l">
                        <a:lnSpc>
                          <a:spcPct val="16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∙ Failure to follow substation room entry procedures (insufficient control by electrical safety manager)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1" marL="88900" marR="0" rtl="0" algn="l">
                        <a:lnSpc>
                          <a:spcPct val="16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∙ LOTOTO not performed (power not shut off) / shared key management (Production Team)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1" marL="88900" marR="0" rtl="0" algn="l">
                        <a:lnSpc>
                          <a:spcPct val="16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∙ Safety permit for work not completed / two-person inspection not performed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1" marL="88900" marR="0" rtl="0" algn="l">
                        <a:lnSpc>
                          <a:spcPct val="16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∙ Insulating protective gear not worn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1" marL="88900" marR="0" rtl="0" algn="l">
                        <a:lnSpc>
                          <a:spcPct val="16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1" marL="88900" marR="0" rtl="0" algn="l">
                        <a:lnSpc>
                          <a:spcPct val="16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□ Recurrence prevention measures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1" marL="88900" marR="0" rtl="0" algn="l">
                        <a:lnSpc>
                          <a:spcPct val="16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∙ Strengthen substation room entry procedures (One key management / maintain entry log)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1" marL="88900" marR="0" rtl="0" algn="l">
                        <a:lnSpc>
                          <a:spcPct val="16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∙ Implement LOTOTO (power shutoff, control box: ASS Controller)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1" marL="88900" marR="0" rtl="0" algn="l">
                        <a:lnSpc>
                          <a:spcPct val="16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∙ Prepare safety work permits / conduct two-person inspections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1" marL="88900" marR="0" rtl="0" algn="l">
                        <a:lnSpc>
                          <a:spcPct val="16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ko-K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∙ Wear insulating protective gear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8000" marL="18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sp>
        <p:nvSpPr>
          <p:cNvPr id="293" name="Google Shape;293;p62"/>
          <p:cNvSpPr/>
          <p:nvPr/>
        </p:nvSpPr>
        <p:spPr>
          <a:xfrm>
            <a:off x="312958" y="568757"/>
            <a:ext cx="294545" cy="29454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2"/>
          <p:cNvSpPr/>
          <p:nvPr/>
        </p:nvSpPr>
        <p:spPr>
          <a:xfrm>
            <a:off x="664710" y="568757"/>
            <a:ext cx="8994679" cy="2945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ko-KR">
                <a:solidFill>
                  <a:srgbClr val="0000CC"/>
                </a:solidFill>
                <a:latin typeface="Malgun Gothic"/>
                <a:ea typeface="Malgun Gothic"/>
                <a:cs typeface="Malgun Gothic"/>
                <a:sym typeface="Malgun Gothic"/>
              </a:rPr>
              <a:t>Aggregate Anseong Plant electrocution accident</a:t>
            </a:r>
            <a:endParaRPr/>
          </a:p>
        </p:txBody>
      </p:sp>
      <p:grpSp>
        <p:nvGrpSpPr>
          <p:cNvPr id="295" name="Google Shape;295;p62"/>
          <p:cNvGrpSpPr/>
          <p:nvPr/>
        </p:nvGrpSpPr>
        <p:grpSpPr>
          <a:xfrm>
            <a:off x="5063136" y="1596600"/>
            <a:ext cx="4325862" cy="4632083"/>
            <a:chOff x="5045718" y="1487973"/>
            <a:chExt cx="4325862" cy="2321451"/>
          </a:xfrm>
        </p:grpSpPr>
        <p:pic>
          <p:nvPicPr>
            <p:cNvPr id="296" name="Google Shape;296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45718" y="1487973"/>
              <a:ext cx="4325862" cy="2321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" name="Google Shape;297;p62"/>
            <p:cNvSpPr/>
            <p:nvPr/>
          </p:nvSpPr>
          <p:spPr>
            <a:xfrm>
              <a:off x="5998528" y="1778045"/>
              <a:ext cx="2583343" cy="1729047"/>
            </a:xfrm>
            <a:prstGeom prst="rect">
              <a:avLst/>
            </a:prstGeom>
            <a:noFill/>
            <a:ln cap="flat" cmpd="sng" w="57150">
              <a:solidFill>
                <a:srgbClr val="FF0000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p62"/>
          <p:cNvSpPr/>
          <p:nvPr/>
        </p:nvSpPr>
        <p:spPr>
          <a:xfrm>
            <a:off x="163901" y="78297"/>
            <a:ext cx="3717157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II. Accident overview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2"/>
          <p:cNvSpPr txBox="1"/>
          <p:nvPr/>
        </p:nvSpPr>
        <p:spPr>
          <a:xfrm>
            <a:off x="6206198" y="35532"/>
            <a:ext cx="3699802" cy="393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lang="ko-KR">
                <a:latin typeface="Calibri"/>
                <a:ea typeface="Calibri"/>
                <a:cs typeface="Calibri"/>
                <a:sym typeface="Calibri"/>
              </a:rPr>
              <a:t>RCA (Root Cause Analysis)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5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4_디자인 사용자 지정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4_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6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