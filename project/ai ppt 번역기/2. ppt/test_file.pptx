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6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slideLayouts/slideLayout22.xml" ContentType="application/vnd.openxmlformats-officedocument.presentationml.slideLayout+xml"/>
  <Override PartName="/ppt/theme/theme8.xml" ContentType="application/vnd.openxmlformats-officedocument.theme+xml"/>
  <Override PartName="/ppt/slideLayouts/slideLayout23.xml" ContentType="application/vnd.openxmlformats-officedocument.presentationml.slideLayout+xml"/>
  <Override PartName="/ppt/theme/theme9.xml" ContentType="application/vnd.openxmlformats-officedocument.theme+xml"/>
  <Override PartName="/ppt/slideLayouts/slideLayout24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22118" saveSubsetFonts="1">
  <p:sldMasterIdLst>
    <p:sldMasterId id="2147483807" r:id="rId1"/>
    <p:sldMasterId id="2147483972" r:id="rId2"/>
    <p:sldMasterId id="2147483981" r:id="rId3"/>
    <p:sldMasterId id="2147483990" r:id="rId4"/>
    <p:sldMasterId id="2147483994" r:id="rId5"/>
    <p:sldMasterId id="2147484014" r:id="rId6"/>
    <p:sldMasterId id="2147484021" r:id="rId7"/>
    <p:sldMasterId id="2147484026" r:id="rId8"/>
    <p:sldMasterId id="2147484031" r:id="rId9"/>
    <p:sldMasterId id="2147484033" r:id="rId10"/>
  </p:sldMasterIdLst>
  <p:notesMasterIdLst>
    <p:notesMasterId r:id="rId13"/>
  </p:notesMasterIdLst>
  <p:sldIdLst>
    <p:sldId id="1063" r:id="rId11"/>
    <p:sldId id="1144" r:id="rId12"/>
  </p:sldIdLst>
  <p:sldSz cx="9906000" cy="6858000" type="A4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3" userDrawn="1">
          <p15:clr>
            <a:srgbClr val="A4A3A4"/>
          </p15:clr>
        </p15:guide>
        <p15:guide id="2" orient="horz" pos="2127" userDrawn="1">
          <p15:clr>
            <a:srgbClr val="A4A3A4"/>
          </p15:clr>
        </p15:guide>
        <p15:guide id="3" pos="2440" userDrawn="1">
          <p15:clr>
            <a:srgbClr val="A4A3A4"/>
          </p15:clr>
        </p15:guide>
        <p15:guide id="4" pos="124" userDrawn="1">
          <p15:clr>
            <a:srgbClr val="A4A3A4"/>
          </p15:clr>
        </p15:guide>
        <p15:guide id="5" pos="6068" userDrawn="1">
          <p15:clr>
            <a:srgbClr val="A4A3A4"/>
          </p15:clr>
        </p15:guide>
        <p15:guide id="6" orient="horz" pos="3929">
          <p15:clr>
            <a:srgbClr val="A4A3A4"/>
          </p15:clr>
        </p15:guide>
        <p15:guide id="7" orient="horz" pos="699" userDrawn="1">
          <p15:clr>
            <a:srgbClr val="A4A3A4"/>
          </p15:clr>
        </p15:guide>
        <p15:guide id="8" orient="horz" pos="3702" userDrawn="1">
          <p15:clr>
            <a:srgbClr val="A4A3A4"/>
          </p15:clr>
        </p15:guide>
        <p15:guide id="9" orient="horz" pos="3249">
          <p15:clr>
            <a:srgbClr val="A4A3A4"/>
          </p15:clr>
        </p15:guide>
        <p15:guide id="10" orient="horz" pos="1162">
          <p15:clr>
            <a:srgbClr val="A4A3A4"/>
          </p15:clr>
        </p15:guide>
        <p15:guide id="11" pos="444" userDrawn="1">
          <p15:clr>
            <a:srgbClr val="A4A3A4"/>
          </p15:clr>
        </p15:guide>
        <p15:guide id="12" pos="262">
          <p15:clr>
            <a:srgbClr val="A4A3A4"/>
          </p15:clr>
        </p15:guide>
        <p15:guide id="13" pos="5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 userDrawn="1">
          <p15:clr>
            <a:srgbClr val="A4A3A4"/>
          </p15:clr>
        </p15:guide>
        <p15:guide id="2" pos="2137" userDrawn="1">
          <p15:clr>
            <a:srgbClr val="A4A3A4"/>
          </p15:clr>
        </p15:guide>
        <p15:guide id="3" orient="horz" pos="3124" userDrawn="1">
          <p15:clr>
            <a:srgbClr val="A4A3A4"/>
          </p15:clr>
        </p15:guide>
        <p15:guide id="4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ECED0"/>
    <a:srgbClr val="E9E9E9"/>
    <a:srgbClr val="FFFFFF"/>
    <a:srgbClr val="A9ACB3"/>
    <a:srgbClr val="FF9900"/>
    <a:srgbClr val="FFFFCC"/>
    <a:srgbClr val="DAEEF3"/>
    <a:srgbClr val="2F5597"/>
    <a:srgbClr val="D9E7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29" autoAdjust="0"/>
  </p:normalViewPr>
  <p:slideViewPr>
    <p:cSldViewPr>
      <p:cViewPr varScale="1">
        <p:scale>
          <a:sx n="63" d="100"/>
          <a:sy n="63" d="100"/>
        </p:scale>
        <p:origin x="1252" y="52"/>
      </p:cViewPr>
      <p:guideLst>
        <p:guide orient="horz" pos="453"/>
        <p:guide orient="horz" pos="2127"/>
        <p:guide pos="2440"/>
        <p:guide pos="124"/>
        <p:guide pos="6068"/>
        <p:guide orient="horz" pos="3929"/>
        <p:guide orient="horz" pos="699"/>
        <p:guide orient="horz" pos="3702"/>
        <p:guide orient="horz" pos="3249"/>
        <p:guide orient="horz" pos="1162"/>
        <p:guide pos="444"/>
        <p:guide pos="262"/>
        <p:guide pos="5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178" y="-90"/>
      </p:cViewPr>
      <p:guideLst>
        <p:guide orient="horz" pos="3120"/>
        <p:guide pos="2137"/>
        <p:guide orient="horz" pos="3124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448" cy="4962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207" tIns="46103" rIns="92207" bIns="46103" numCol="1" anchor="t" anchorCtr="0" compatLnSpc="1">
            <a:prstTxWarp prst="textNoShape">
              <a:avLst/>
            </a:prstTxWarp>
          </a:bodyPr>
          <a:lstStyle>
            <a:lvl1pPr algn="l" defTabSz="922247" eaLnBrk="1" latinLnBrk="1" hangingPunct="1">
              <a:spcBef>
                <a:spcPct val="0"/>
              </a:spcBef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643" y="0"/>
            <a:ext cx="2945448" cy="4962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207" tIns="46103" rIns="92207" bIns="46103" numCol="1" anchor="t" anchorCtr="0" compatLnSpc="1">
            <a:prstTxWarp prst="textNoShape">
              <a:avLst/>
            </a:prstTxWarp>
          </a:bodyPr>
          <a:lstStyle>
            <a:lvl1pPr algn="r" defTabSz="922247" eaLnBrk="1" latinLnBrk="1" hangingPunct="1">
              <a:spcBef>
                <a:spcPct val="0"/>
              </a:spcBef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08025" y="741363"/>
            <a:ext cx="5381625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5" y="4715193"/>
            <a:ext cx="5437506" cy="446785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207" tIns="46103" rIns="92207" bIns="461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800"/>
            <a:ext cx="2945448" cy="4962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207" tIns="46103" rIns="92207" bIns="46103" numCol="1" anchor="b" anchorCtr="0" compatLnSpc="1">
            <a:prstTxWarp prst="textNoShape">
              <a:avLst/>
            </a:prstTxWarp>
          </a:bodyPr>
          <a:lstStyle>
            <a:lvl1pPr algn="l" defTabSz="922247" eaLnBrk="1" latinLnBrk="1" hangingPunct="1">
              <a:spcBef>
                <a:spcPct val="0"/>
              </a:spcBef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19263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76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3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41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A9F25EB3-8F10-4ED0-A9A2-5CAB6BDB8F7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1558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13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85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62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A7638208-DBF4-4ABD-8718-C752B9F4764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0744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BFA4C302-6C80-4A39-B506-8CCE9134159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901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36ED45D6-AF39-4811-87AF-C001B73F980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52000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75B3BECB-650F-4755-92EA-F11B9BCD1FD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2277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994525" y="149225"/>
            <a:ext cx="2168525" cy="55657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88950" y="149225"/>
            <a:ext cx="6353175" cy="55657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A951A513-08C6-43C1-801D-AE6A10323CC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9508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93166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602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6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lIns="91407" tIns="45704" rIns="91407" bIns="4570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80833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979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816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6601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625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857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3161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980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46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2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3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88950" y="149225"/>
            <a:ext cx="8420100" cy="3968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6002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98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34525" y="6692900"/>
            <a:ext cx="3302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latinLnBrk="1" hangingPunct="1">
              <a:defRPr sz="1000">
                <a:solidFill>
                  <a:srgbClr val="000000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BF3E1A70-8405-4319-AD05-7599D615B23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9" name="Line 6"/>
          <p:cNvSpPr>
            <a:spLocks noChangeShapeType="1"/>
          </p:cNvSpPr>
          <p:nvPr userDrawn="1"/>
        </p:nvSpPr>
        <p:spPr bwMode="auto">
          <a:xfrm>
            <a:off x="74613" y="638175"/>
            <a:ext cx="9756775" cy="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 txBox="1">
            <a:spLocks/>
          </p:cNvSpPr>
          <p:nvPr userDrawn="1"/>
        </p:nvSpPr>
        <p:spPr>
          <a:xfrm>
            <a:off x="3794125" y="6669088"/>
            <a:ext cx="2311400" cy="13335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eaLnBrk="1" hangingPunct="1">
              <a:defRPr/>
            </a:pPr>
            <a:fld id="{4FCE5C35-6619-4DB3-8B2C-E4CA67E0DB23}" type="slidenum">
              <a:rPr lang="ko-KR" altLang="en-US" sz="1000" smtClean="0">
                <a:solidFill>
                  <a:schemeClr val="tx1"/>
                </a:solidFill>
              </a:rPr>
              <a:pPr algn="ctr" eaLnBrk="1" hangingPunct="1">
                <a:defRPr/>
              </a:pPr>
              <a:t>‹#›</a:t>
            </a:fld>
            <a:endParaRPr lang="ko-KR" altLang="en-US" sz="10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3" r:id="rId1"/>
    <p:sldLayoutId id="2147484615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371600"/>
            <a:ext cx="85852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7" tIns="45680" rIns="91357" bIns="456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2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88950" y="149225"/>
            <a:ext cx="8420100" cy="3968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6002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98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34525" y="6692900"/>
            <a:ext cx="3302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latinLnBrk="1" hangingPunct="1">
              <a:defRPr sz="1000">
                <a:solidFill>
                  <a:srgbClr val="000000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FC6450A0-0B22-45AA-B08E-FB1FECC8EC4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077" name="Line 6"/>
          <p:cNvSpPr>
            <a:spLocks noChangeShapeType="1"/>
          </p:cNvSpPr>
          <p:nvPr/>
        </p:nvSpPr>
        <p:spPr bwMode="auto">
          <a:xfrm>
            <a:off x="74613" y="638175"/>
            <a:ext cx="9756775" cy="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7" r:id="rId1"/>
    <p:sldLayoutId id="2147484618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/>
          </p:cNvSpPr>
          <p:nvPr userDrawn="1"/>
        </p:nvSpPr>
        <p:spPr>
          <a:xfrm>
            <a:off x="4521200" y="6694488"/>
            <a:ext cx="863600" cy="119062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2143B43F-588A-4EA4-99DD-0EFE8A689109}" type="slidenum">
              <a:rPr kumimoji="0" lang="ko-KR" altLang="en-US" sz="900" smtClean="0">
                <a:solidFill>
                  <a:prstClr val="black"/>
                </a:solidFill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900">
              <a:solidFill>
                <a:prstClr val="black"/>
              </a:solidFill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57150" y="549275"/>
            <a:ext cx="97917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3" r:id="rId1"/>
    <p:sldLayoutId id="2147484627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88950" y="149225"/>
            <a:ext cx="8420100" cy="3968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6002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98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34525" y="6692900"/>
            <a:ext cx="3302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latinLnBrk="1" hangingPunct="1">
              <a:defRPr sz="1000">
                <a:solidFill>
                  <a:srgbClr val="000000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CD2811CC-7812-4243-96B6-8D44FB2BE53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125" name="Line 6"/>
          <p:cNvSpPr>
            <a:spLocks noChangeShapeType="1"/>
          </p:cNvSpPr>
          <p:nvPr userDrawn="1"/>
        </p:nvSpPr>
        <p:spPr bwMode="auto">
          <a:xfrm>
            <a:off x="74613" y="638175"/>
            <a:ext cx="9756775" cy="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 txBox="1">
            <a:spLocks/>
          </p:cNvSpPr>
          <p:nvPr/>
        </p:nvSpPr>
        <p:spPr>
          <a:xfrm>
            <a:off x="3794125" y="6669088"/>
            <a:ext cx="2311400" cy="13335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eaLnBrk="1" hangingPunct="1">
              <a:defRPr/>
            </a:pPr>
            <a:fld id="{7E73D60E-83FB-4AAA-BB61-F7E48E5B5368}" type="slidenum">
              <a:rPr lang="ko-KR" altLang="en-US" sz="1000" smtClean="0">
                <a:solidFill>
                  <a:srgbClr val="000000"/>
                </a:solidFill>
              </a:rPr>
              <a:pPr algn="ctr" eaLnBrk="1" hangingPunct="1">
                <a:defRPr/>
              </a:pPr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9" r:id="rId1"/>
    <p:sldLayoutId id="2147484620" r:id="rId2"/>
    <p:sldLayoutId id="2147484621" r:id="rId3"/>
    <p:sldLayoutId id="2147484622" r:id="rId4"/>
    <p:sldLayoutId id="2147484623" r:id="rId5"/>
    <p:sldLayoutId id="2147484624" r:id="rId6"/>
    <p:sldLayoutId id="2147484625" r:id="rId7"/>
    <p:sldLayoutId id="2147484626" r:id="rId8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371600"/>
            <a:ext cx="85852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24" tIns="45663" rIns="91324" bIns="4566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4" r:id="rId1"/>
    <p:sldLayoutId id="2147484605" r:id="rId2"/>
    <p:sldLayoutId id="2147484606" r:id="rId3"/>
    <p:sldLayoutId id="2147484607" r:id="rId4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034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07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106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14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3694" indent="-230104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0728" indent="-230104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7764" indent="-230104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4798" indent="-230104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0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06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40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76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11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46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281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 flipV="1">
            <a:off x="71438" y="619125"/>
            <a:ext cx="9758362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52"/>
          <p:cNvSpPr txBox="1">
            <a:spLocks noChangeArrowheads="1"/>
          </p:cNvSpPr>
          <p:nvPr/>
        </p:nvSpPr>
        <p:spPr bwMode="gray">
          <a:xfrm>
            <a:off x="4448175" y="6640513"/>
            <a:ext cx="1009650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951" tIns="36976" rIns="73951" bIns="36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E0540FA-8777-4F79-A5C0-6CE94A47F9D7}" type="slidenum">
              <a:rPr kumimoji="0" lang="en-US" altLang="ko-KR" sz="923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/>
                <a:ea typeface="-윤고딕330" pitchFamily="18" charset="-127"/>
                <a:cs typeface="산돌고딕 L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en-US" altLang="ko-KR" sz="923">
              <a:solidFill>
                <a:prstClr val="black">
                  <a:lumMod val="65000"/>
                  <a:lumOff val="35000"/>
                </a:prstClr>
              </a:solidFill>
              <a:latin typeface="맑은 고딕"/>
              <a:ea typeface="-윤고딕330" pitchFamily="18" charset="-127"/>
              <a:cs typeface="산돌고딕 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8" r:id="rId1"/>
    <p:sldLayoutId id="2147484609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22041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44083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66124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88165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15913" indent="-3159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6352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54100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76375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 flipV="1">
            <a:off x="71438" y="619125"/>
            <a:ext cx="9758362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52"/>
          <p:cNvSpPr txBox="1">
            <a:spLocks noChangeArrowheads="1"/>
          </p:cNvSpPr>
          <p:nvPr userDrawn="1"/>
        </p:nvSpPr>
        <p:spPr bwMode="gray">
          <a:xfrm>
            <a:off x="4448175" y="6640513"/>
            <a:ext cx="100965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14" tIns="40057" rIns="80114" bIns="40057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5EF4213-695E-4C7A-9B6B-A3F3AB234D2D}" type="slidenum">
              <a:rPr kumimoji="0" lang="en-US" altLang="ko-KR" sz="1000" smtClean="0">
                <a:solidFill>
                  <a:prstClr val="black"/>
                </a:solidFill>
                <a:latin typeface="맑은 고딕"/>
                <a:ea typeface="-윤고딕330" pitchFamily="18" charset="-127"/>
                <a:cs typeface="산돌고딕 L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en-US" altLang="ko-KR" sz="1000">
              <a:solidFill>
                <a:prstClr val="black"/>
              </a:solidFill>
              <a:latin typeface="맑은 고딕"/>
              <a:ea typeface="-윤고딕330" pitchFamily="18" charset="-127"/>
              <a:cs typeface="산돌고딕 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0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/>
          </p:cNvSpPr>
          <p:nvPr userDrawn="1"/>
        </p:nvSpPr>
        <p:spPr>
          <a:xfrm>
            <a:off x="4508500" y="6694488"/>
            <a:ext cx="863600" cy="119062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C6E8F611-2AE9-47E6-8C02-00FCF440BBB7}" type="slidenum">
              <a:rPr kumimoji="0" lang="ko-KR" altLang="en-US" sz="900" smtClean="0">
                <a:solidFill>
                  <a:prstClr val="black"/>
                </a:solidFill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900">
              <a:solidFill>
                <a:prstClr val="black"/>
              </a:solidFill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57150" y="549275"/>
            <a:ext cx="97917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1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 flipV="1">
            <a:off x="71438" y="619125"/>
            <a:ext cx="9758362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52"/>
          <p:cNvSpPr txBox="1">
            <a:spLocks noChangeArrowheads="1"/>
          </p:cNvSpPr>
          <p:nvPr userDrawn="1"/>
        </p:nvSpPr>
        <p:spPr bwMode="gray">
          <a:xfrm>
            <a:off x="4448175" y="6640513"/>
            <a:ext cx="1009650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951" tIns="36976" rIns="73951" bIns="36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9676B903-12F0-47A3-A460-847A4381F045}" type="slidenum">
              <a:rPr kumimoji="0" lang="en-US" altLang="ko-KR" sz="923" b="1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/>
                <a:ea typeface="-윤고딕330" pitchFamily="18" charset="-127"/>
                <a:cs typeface="산돌고딕 L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en-US" altLang="ko-KR" sz="923" b="1">
              <a:solidFill>
                <a:prstClr val="black">
                  <a:lumMod val="65000"/>
                  <a:lumOff val="35000"/>
                </a:prstClr>
              </a:solidFill>
              <a:latin typeface="맑은 고딕"/>
              <a:ea typeface="-윤고딕330" pitchFamily="18" charset="-127"/>
              <a:cs typeface="산돌고딕 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2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22041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44083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66124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88165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15913" indent="-3159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6352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54100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76375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275" y="1492909"/>
            <a:ext cx="273526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□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44" y="132654"/>
            <a:ext cx="3919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중대재해처벌법 개요</a:t>
            </a:r>
            <a:endParaRPr lang="ko-KR" altLang="en-US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8380" y="1807566"/>
            <a:ext cx="9149155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법은 </a:t>
            </a:r>
            <a:r>
              <a:rPr lang="ko-KR" altLang="en-US" sz="14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 또는 사업장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공중이용시설 및 공중교통수단을 </a:t>
            </a:r>
            <a:r>
              <a:rPr lang="ko-KR" altLang="en-US" sz="14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운영하거나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인체에 해로운 원료나 제조물을 취급하면서 </a:t>
            </a:r>
            <a:r>
              <a:rPr lang="ko-KR" altLang="en-US" sz="1400" b="1" u="sng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안전ㆍ보건</a:t>
            </a:r>
            <a:r>
              <a:rPr lang="ko-KR" altLang="en-US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조치의무</a:t>
            </a:r>
            <a:r>
              <a:rPr lang="ko-KR" altLang="en-US" sz="14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위반하여 인명피해를 발생하게 한 </a:t>
            </a:r>
            <a:r>
              <a:rPr lang="ko-KR" altLang="en-US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사업주</a:t>
            </a:r>
            <a:r>
              <a:rPr lang="en-US" altLang="ko-KR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경영책임자</a:t>
            </a:r>
            <a:r>
              <a:rPr lang="en-US" altLang="ko-KR" sz="14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공무원 및 법인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ko-KR" altLang="en-US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처벌 </a:t>
            </a:r>
            <a:r>
              <a:rPr lang="ko-KR" altLang="en-US" sz="140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등을 규정함으로써 </a:t>
            </a:r>
            <a:r>
              <a:rPr lang="ko-KR" altLang="en-US" sz="140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중대재해를 예방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하고 시민과 </a:t>
            </a:r>
            <a:r>
              <a:rPr lang="ko-KR" altLang="en-US" sz="1400" b="1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종사자</a:t>
            </a:r>
            <a:r>
              <a:rPr lang="ko-KR" altLang="en-US" sz="140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의 생명과 신체를 보호함을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목적으로 한다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2F27FB-74F2-4C78-A8A7-D221E14ADE0A}"/>
              </a:ext>
            </a:extLst>
          </p:cNvPr>
          <p:cNvSpPr txBox="1"/>
          <p:nvPr/>
        </p:nvSpPr>
        <p:spPr>
          <a:xfrm>
            <a:off x="5529064" y="3429000"/>
            <a:ext cx="273526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□ 종사자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C59D16-129E-4B71-B911-7CA354B496EA}"/>
              </a:ext>
            </a:extLst>
          </p:cNvPr>
          <p:cNvSpPr txBox="1"/>
          <p:nvPr/>
        </p:nvSpPr>
        <p:spPr>
          <a:xfrm>
            <a:off x="628380" y="3432880"/>
            <a:ext cx="273526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□ 중대재해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A7BDC91-9D61-4171-B944-E491217F7F0D}"/>
              </a:ext>
            </a:extLst>
          </p:cNvPr>
          <p:cNvSpPr/>
          <p:nvPr/>
        </p:nvSpPr>
        <p:spPr>
          <a:xfrm>
            <a:off x="5690170" y="3736777"/>
            <a:ext cx="3414170" cy="2312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i="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직접 고용한 근로자</a:t>
            </a:r>
            <a:endParaRPr lang="en-US" altLang="ko-KR" sz="1400" b="1" i="0" dirty="0">
              <a:solidFill>
                <a:srgbClr val="FF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도급∙용역∙위탁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등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계약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형식에 관계없이 대가를 목적으로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노무를 제공하는 자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단계별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수급인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및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수급인의 근로자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수급인에게 대가를 목적으로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노무를 제공하는 자</a:t>
            </a:r>
            <a:endParaRPr lang="ko-KR" altLang="en-US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DD7EEBD-9E79-4F11-BCD2-7C1EAF222F68}"/>
              </a:ext>
            </a:extLst>
          </p:cNvPr>
          <p:cNvSpPr/>
          <p:nvPr/>
        </p:nvSpPr>
        <p:spPr>
          <a:xfrm>
            <a:off x="730214" y="3740657"/>
            <a:ext cx="3414170" cy="2312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사망자가 </a:t>
            </a:r>
            <a:r>
              <a:rPr lang="en-US" altLang="ko-KR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명이상 발생</a:t>
            </a:r>
            <a:br>
              <a:rPr lang="en-US" altLang="ko-KR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60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동일한 사고로 </a:t>
            </a:r>
            <a:r>
              <a:rPr lang="en-US" altLang="ko-KR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 이상 치료가 필요한 부상자가 </a:t>
            </a:r>
            <a:r>
              <a:rPr lang="en-US" altLang="ko-KR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명이상 발생</a:t>
            </a:r>
            <a:br>
              <a:rPr lang="en-US" altLang="ko-KR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70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동일한 유해요인으로 급성중독 등 대통령령으로 정하는 직업성 질병자가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이내에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명이상 발생</a:t>
            </a:r>
            <a:endParaRPr lang="ko-KR" altLang="en-US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CCB2046-7447-48C4-B7F4-6282C3058A32}"/>
              </a:ext>
            </a:extLst>
          </p:cNvPr>
          <p:cNvGrpSpPr/>
          <p:nvPr/>
        </p:nvGrpSpPr>
        <p:grpSpPr>
          <a:xfrm>
            <a:off x="243679" y="780391"/>
            <a:ext cx="2982154" cy="307777"/>
            <a:chOff x="243679" y="780391"/>
            <a:chExt cx="2982154" cy="30777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C8E9042-676F-4995-928C-DADB15EA44BA}"/>
                </a:ext>
              </a:extLst>
            </p:cNvPr>
            <p:cNvSpPr txBox="1"/>
            <p:nvPr/>
          </p:nvSpPr>
          <p:spPr>
            <a:xfrm>
              <a:off x="490571" y="780391"/>
              <a:ext cx="2735262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ko-KR" altLang="en-US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법 개요</a:t>
              </a:r>
            </a:p>
          </p:txBody>
        </p:sp>
        <p:sp>
          <p:nvSpPr>
            <p:cNvPr id="71" name="Rectangle 13">
              <a:extLst>
                <a:ext uri="{FF2B5EF4-FFF2-40B4-BE49-F238E27FC236}">
                  <a16:creationId xmlns:a16="http://schemas.microsoft.com/office/drawing/2014/main" id="{7C410EDE-EA0F-4EEE-A533-758C00230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79" y="800224"/>
              <a:ext cx="246892" cy="234347"/>
            </a:xfrm>
            <a:prstGeom prst="rect">
              <a:avLst/>
            </a:prstGeom>
            <a:solidFill>
              <a:srgbClr val="5A89C1"/>
            </a:solidFill>
            <a:ln w="12700">
              <a:noFill/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900113">
                <a:defRPr/>
              </a:pPr>
              <a:r>
                <a:rPr kumimoji="0" lang="en-GB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533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044" y="132654"/>
            <a:ext cx="3919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중대재해처벌법상 경영책임자</a:t>
            </a:r>
            <a:r>
              <a:rPr lang="en-US" altLang="ko-KR" sz="18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72083F0-7CB8-4BB9-A025-F4C44B54BC4E}"/>
              </a:ext>
            </a:extLst>
          </p:cNvPr>
          <p:cNvGrpSpPr/>
          <p:nvPr/>
        </p:nvGrpSpPr>
        <p:grpSpPr>
          <a:xfrm>
            <a:off x="196439" y="692696"/>
            <a:ext cx="4997352" cy="307777"/>
            <a:chOff x="243679" y="856680"/>
            <a:chExt cx="4997352" cy="30777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D56770A-A8E8-413C-9579-D7DE92F294BE}"/>
                </a:ext>
              </a:extLst>
            </p:cNvPr>
            <p:cNvSpPr txBox="1"/>
            <p:nvPr/>
          </p:nvSpPr>
          <p:spPr>
            <a:xfrm>
              <a:off x="490570" y="856680"/>
              <a:ext cx="47504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경영책임자 판단사례</a:t>
              </a:r>
              <a:r>
                <a:rPr lang="en-US" altLang="ko-KR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아리셀 화재사고</a:t>
              </a:r>
              <a:r>
                <a:rPr lang="en-US" altLang="ko-KR" sz="14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18B56F61-82DA-4E06-BB52-A28C72DA3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79" y="876513"/>
              <a:ext cx="246892" cy="234347"/>
            </a:xfrm>
            <a:prstGeom prst="rect">
              <a:avLst/>
            </a:prstGeom>
            <a:solidFill>
              <a:srgbClr val="5A89C1"/>
            </a:solidFill>
            <a:ln w="12700">
              <a:noFill/>
              <a:miter lim="800000"/>
              <a:headEnd/>
              <a:tailEnd/>
            </a:ln>
          </p:spPr>
          <p:txBody>
            <a:bodyPr lIns="72000" tIns="72000" rIns="72000" bIns="72000" anchor="ctr"/>
            <a:lstStyle/>
            <a:p>
              <a:pPr algn="ctr" defTabSz="900113">
                <a:defRPr/>
              </a:pPr>
              <a:r>
                <a:rPr kumimoji="0" lang="en-GB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3AB8C6-0459-4E76-B43F-5AEE576D15F5}"/>
              </a:ext>
            </a:extLst>
          </p:cNvPr>
          <p:cNvSpPr/>
          <p:nvPr/>
        </p:nvSpPr>
        <p:spPr>
          <a:xfrm>
            <a:off x="776536" y="2595988"/>
            <a:ext cx="8784976" cy="38595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수원지방법원 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고합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833 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판결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b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중대재해처벌법이 제정되기 이전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에는 법인의 대표이사는 산업안전보건법상 의무주체인 사업주에 해당하지 않고 양벌규정의 역적용에 의하여 경우에 따라서는 행위자에 해당할 여지는 있었지만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실제 사업장에서 재해가 발생하였을 때 대표이사는 구체적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․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직접적 의무가 없다거나 </a:t>
            </a:r>
            <a:r>
              <a:rPr lang="ko-KR" altLang="en-US" sz="120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산업안전보건법상</a:t>
            </a:r>
            <a:r>
              <a: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의 안전보건 조치의무 불이행에 대한 인식이없었다는 등의 이유로 대표이사가 아닌 현장소장</a:t>
            </a:r>
            <a:r>
              <a:rPr lang="en-US" altLang="ko-KR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공장장 등 </a:t>
            </a:r>
            <a:r>
              <a:rPr lang="ko-KR" altLang="en-US" sz="1200" b="1" u="sng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현장의</a:t>
            </a:r>
            <a:r>
              <a:rPr lang="ko-KR" altLang="en-US" sz="1200" u="sng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안전보건관리</a:t>
            </a:r>
            <a:r>
              <a:rPr lang="ko-KR" altLang="en-US" sz="1200" b="1" u="sng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책임자 위주로 처벌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이 이루어지고 있었다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 이에 </a:t>
            </a:r>
            <a:r>
              <a:rPr lang="ko-KR" altLang="en-US" sz="1200" b="1" u="sng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중대재해처벌법</a:t>
            </a:r>
            <a:r>
              <a:rPr lang="ko-KR" altLang="en-US" sz="1200" b="1" u="sng">
                <a:latin typeface="맑은 고딕" panose="020B0503020000020004" pitchFamily="50" charset="-127"/>
                <a:ea typeface="맑은 고딕" panose="020B0503020000020004" pitchFamily="50" charset="-127"/>
              </a:rPr>
              <a:t>은</a:t>
            </a:r>
            <a:r>
              <a: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 경영책임자등이 안전보건 확보의무를 부담하는 것으로 명확하게 규정함으로써 </a:t>
            </a:r>
            <a:r>
              <a:rPr lang="ko-KR" altLang="en-US" sz="1200" b="1" u="sng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법인의 대표이사</a:t>
            </a:r>
            <a:r>
              <a: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도 중대재해처벌법위반죄의 주체가 되도록 한 것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이다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따라서 대표이사는 원칙적으로 중대재해처벌법상 작위의무를 부담하는 사업총괄책임자로서 경영책임자등의 신분에 있다고 보아야하고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사업 운영의 실질에 따라 대표이사가 아닌 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자에게 어느 정도 경영의 권한이부여되어 있다고 하더라도 </a:t>
            </a:r>
            <a:r>
              <a: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대표이사가 아닌 </a:t>
            </a:r>
            <a:r>
              <a:rPr lang="ko-KR" altLang="en-US" sz="1200" b="1" u="sng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</a:t>
            </a:r>
            <a:r>
              <a:rPr lang="en-US" altLang="ko-KR" sz="1200" b="1" u="sng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b="1" u="sng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자를 경영책임자등에 해당한다고 인정할 때</a:t>
            </a:r>
            <a:r>
              <a: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에는 위와 같은 입법취지에 비추어 </a:t>
            </a:r>
            <a:r>
              <a:rPr lang="ko-KR" altLang="en-US" sz="1200" b="1" u="sng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신중</a:t>
            </a:r>
            <a:r>
              <a:rPr lang="ko-KR" altLang="en-US" sz="1200" u="sng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기할 필요</a:t>
            </a:r>
            <a:r>
              <a: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가 있다</a:t>
            </a:r>
            <a:r>
              <a:rPr lang="en-US" altLang="ko-KR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 그렇지 않다면 대표이사가 손쉽게 자신이 중대재해처벌법에 따라 부담하여야 하는 작위의무를 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자를 내세워 모면할 수 있도록 외관이나 형식을 작출할 수 있고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이는 대표이사가 스스로 실현하여야 하는 종사자의 안전보건 확보의무를 포기하게 하는 결과가 되기 때문이다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그러므로 대표이사가 형식적으로만 존재하고 경영에 대한 어떠한 권한을 실제로 전혀 행사하지 아니할 뿐만 아니라 사실상 권한을 행사할 수 있는 지위에도 있지 않아 그러한 </a:t>
            </a:r>
            <a:r>
              <a:rPr lang="ko-KR" altLang="en-US" sz="1200" u="sng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명목상 대표이사</a:t>
            </a:r>
            <a:r>
              <a: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에게 중대재해처벌법상 작위의무를 부담하도록 하는 것이 부당하다고 인정되는 경우 등 </a:t>
            </a:r>
            <a:r>
              <a:rPr lang="ko-KR" altLang="en-US" sz="1200" b="1" u="sng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특별한 사정이 있는 때에 한하여 </a:t>
            </a:r>
            <a:r>
              <a: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대표이사가 아닌 제</a:t>
            </a:r>
            <a:r>
              <a:rPr lang="en-US" altLang="ko-KR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자를 사업총괄책임자로서 경영책임자등에 해당한다고 봄이 타당하다</a:t>
            </a:r>
            <a:r>
              <a:rPr lang="en-US" altLang="ko-KR" sz="1200" u="sng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400" u="sng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20067F-FC63-4902-A16A-FFF2F10E6BC7}"/>
              </a:ext>
            </a:extLst>
          </p:cNvPr>
          <p:cNvSpPr/>
          <p:nvPr/>
        </p:nvSpPr>
        <p:spPr>
          <a:xfrm>
            <a:off x="432306" y="1157419"/>
            <a:ext cx="9586520" cy="1204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년 아리셀 공장 화재사고로 </a:t>
            </a:r>
            <a:r>
              <a:rPr lang="en-US" altLang="ko-KR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r>
            <a:r>
              <a:rPr lang="ko-KR" altLang="en-US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명 사망</a:t>
            </a:r>
            <a:r>
              <a:rPr lang="en-US" altLang="ko-KR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 b="1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대표이사</a:t>
            </a:r>
            <a:r>
              <a:rPr lang="ko-KR" altLang="en-US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는 아들</a:t>
            </a:r>
            <a:r>
              <a:rPr lang="en-US" altLang="ko-KR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본부장</a:t>
            </a:r>
            <a:r>
              <a:rPr lang="en-US" altLang="ko-KR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에게 실질적 권한이 있어서 </a:t>
            </a:r>
            <a:r>
              <a:rPr lang="ko-KR" altLang="en-US" sz="1400" b="1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경영책임자가 아니라고 주장</a:t>
            </a:r>
            <a:r>
              <a:rPr lang="en-US" altLang="ko-KR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br>
              <a:rPr lang="en-US" altLang="ko-KR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br>
              <a:rPr lang="en-US" altLang="ko-KR" sz="500" spc="-15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endParaRPr lang="en-US" altLang="ko-KR" sz="3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0000" indent="-18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하지만 다음의 이유등을 근거로 법원은 대표이사를 경영책임자로 봄</a:t>
            </a:r>
            <a:r>
              <a:rPr lang="en-US" altLang="ko-KR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br>
              <a:rPr lang="en-US" altLang="ko-KR" sz="1400" spc="-15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2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①대표이사로서의 지위 인식</a:t>
            </a:r>
            <a:r>
              <a:rPr lang="en-US" altLang="ko-KR" sz="12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 ②경영 전반 상세보고 받은 점</a:t>
            </a:r>
            <a:r>
              <a:rPr lang="en-US" altLang="ko-KR" sz="12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③필요시 본부장에게 지시 감독 권한 행사</a:t>
            </a:r>
            <a:r>
              <a:rPr lang="en-US" altLang="ko-KR" sz="12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③모든 영역에서 최종 의사결정권 보유</a:t>
            </a:r>
            <a:r>
              <a:rPr lang="en-US" altLang="ko-KR" sz="12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spc="-150">
                <a:latin typeface="맑은 고딕" panose="020B0503020000020004" pitchFamily="50" charset="-127"/>
                <a:ea typeface="맑은 고딕" panose="020B0503020000020004" pitchFamily="50" charset="-127"/>
              </a:rPr>
              <a:t>및 지시 등</a:t>
            </a:r>
            <a:endParaRPr lang="en-US" altLang="ko-KR" sz="12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3467755"/>
      </p:ext>
    </p:extLst>
  </p:cSld>
  <p:clrMapOvr>
    <a:masterClrMapping/>
  </p:clrMapOvr>
</p:sld>
</file>

<file path=ppt/theme/theme1.xml><?xml version="1.0" encoding="utf-8"?>
<a:theme xmlns:a="http://schemas.openxmlformats.org/drawingml/2006/main" name="8_realpt-052">
  <a:themeElements>
    <a:clrScheme name="realpt-052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ealpt-052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ealpt-05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alpt-05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7_01061005">
  <a:themeElements>
    <a:clrScheme name="3_0106100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99"/>
      </a:accent1>
      <a:accent2>
        <a:srgbClr val="0C3CA6"/>
      </a:accent2>
      <a:accent3>
        <a:srgbClr val="FFFFFF"/>
      </a:accent3>
      <a:accent4>
        <a:srgbClr val="000000"/>
      </a:accent4>
      <a:accent5>
        <a:srgbClr val="AAAACA"/>
      </a:accent5>
      <a:accent6>
        <a:srgbClr val="0A3596"/>
      </a:accent6>
      <a:hlink>
        <a:srgbClr val="CCCCFF"/>
      </a:hlink>
      <a:folHlink>
        <a:srgbClr val="B2B2B2"/>
      </a:folHlink>
    </a:clrScheme>
    <a:fontScheme name="3_01061005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9_realpt-052">
  <a:themeElements>
    <a:clrScheme name="realpt-052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ealpt-052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ealpt-05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alpt-05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0_realpt-052">
  <a:themeElements>
    <a:clrScheme name="realpt-052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ealpt-052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ealpt-05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alpt-05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01061005">
  <a:themeElements>
    <a:clrScheme name="3_0106100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99"/>
      </a:accent1>
      <a:accent2>
        <a:srgbClr val="0C3CA6"/>
      </a:accent2>
      <a:accent3>
        <a:srgbClr val="FFFFFF"/>
      </a:accent3>
      <a:accent4>
        <a:srgbClr val="000000"/>
      </a:accent4>
      <a:accent5>
        <a:srgbClr val="AAAACA"/>
      </a:accent5>
      <a:accent6>
        <a:srgbClr val="0A3596"/>
      </a:accent6>
      <a:hlink>
        <a:srgbClr val="CCCCFF"/>
      </a:hlink>
      <a:folHlink>
        <a:srgbClr val="B2B2B2"/>
      </a:folHlink>
    </a:clrScheme>
    <a:fontScheme name="3_01061005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fa사업현황(지도)</Template>
  <TotalTime>80352</TotalTime>
  <Words>401</Words>
  <Application>Microsoft Office PowerPoint</Application>
  <PresentationFormat>A4 용지(210x297mm)</PresentationFormat>
  <Paragraphs>24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10</vt:i4>
      </vt:variant>
      <vt:variant>
        <vt:lpstr>슬라이드 제목</vt:lpstr>
      </vt:variant>
      <vt:variant>
        <vt:i4>2</vt:i4>
      </vt:variant>
    </vt:vector>
  </HeadingPairs>
  <TitlesOfParts>
    <vt:vector size="18" baseType="lpstr">
      <vt:lpstr>HY헤드라인M</vt:lpstr>
      <vt:lpstr>굴림</vt:lpstr>
      <vt:lpstr>맑은 고딕</vt:lpstr>
      <vt:lpstr>Arial</vt:lpstr>
      <vt:lpstr>Times New Roman</vt:lpstr>
      <vt:lpstr>Wingdings</vt:lpstr>
      <vt:lpstr>8_realpt-052</vt:lpstr>
      <vt:lpstr>7_01061005</vt:lpstr>
      <vt:lpstr>9_realpt-052</vt:lpstr>
      <vt:lpstr>1_Office 테마</vt:lpstr>
      <vt:lpstr>10_realpt-052</vt:lpstr>
      <vt:lpstr>8_01061005</vt:lpstr>
      <vt:lpstr>5_Office 테마</vt:lpstr>
      <vt:lpstr>6_Office 테마</vt:lpstr>
      <vt:lpstr>2_Office 테마</vt:lpstr>
      <vt:lpstr>7_Office 테마</vt:lpstr>
      <vt:lpstr>PowerPoint 프레젠테이션</vt:lpstr>
      <vt:lpstr>PowerPoint 프레젠테이션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한전 동향</dc:title>
  <dc:creator>SEC</dc:creator>
  <cp:lastModifiedBy>하태준</cp:lastModifiedBy>
  <cp:revision>6681</cp:revision>
  <cp:lastPrinted>2020-08-31T12:17:42Z</cp:lastPrinted>
  <dcterms:created xsi:type="dcterms:W3CDTF">2011-03-16T00:11:19Z</dcterms:created>
  <dcterms:modified xsi:type="dcterms:W3CDTF">2026-01-31T03:58:48Z</dcterms:modified>
</cp:coreProperties>
</file>