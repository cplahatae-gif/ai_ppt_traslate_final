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6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slideLayouts/slideLayout22.xml" ContentType="application/vnd.openxmlformats-officedocument.presentationml.slideLayout+xml"/>
  <Override PartName="/ppt/theme/theme8.xml" ContentType="application/vnd.openxmlformats-officedocument.theme+xml"/>
  <Override PartName="/ppt/slideLayouts/slideLayout23.xml" ContentType="application/vnd.openxmlformats-officedocument.presentationml.slideLayout+xml"/>
  <Override PartName="/ppt/theme/theme9.xml" ContentType="application/vnd.openxmlformats-officedocument.theme+xml"/>
  <Override PartName="/ppt/slideLayouts/slideLayout2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22118" saveSubsetFonts="1">
  <p:sldMasterIdLst>
    <p:sldMasterId id="2147483807" r:id="rId1"/>
    <p:sldMasterId id="2147483972" r:id="rId2"/>
    <p:sldMasterId id="2147483981" r:id="rId3"/>
    <p:sldMasterId id="2147483990" r:id="rId4"/>
    <p:sldMasterId id="2147483994" r:id="rId5"/>
    <p:sldMasterId id="2147484014" r:id="rId6"/>
    <p:sldMasterId id="2147484021" r:id="rId7"/>
    <p:sldMasterId id="2147484026" r:id="rId8"/>
    <p:sldMasterId id="2147484031" r:id="rId9"/>
    <p:sldMasterId id="2147484033" r:id="rId10"/>
  </p:sldMasterIdLst>
  <p:notesMasterIdLst>
    <p:notesMasterId r:id="rId13"/>
  </p:notesMasterIdLst>
  <p:sldIdLst>
    <p:sldId id="1063" r:id="rId11"/>
    <p:sldId id="1144" r:id="rId12"/>
  </p:sldIdLst>
  <p:sldSz cx="9906000" cy="6858000" type="A4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헤드라인M" panose="02030600000101010101" pitchFamily="18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" userDrawn="1">
          <p15:clr>
            <a:srgbClr val="A4A3A4"/>
          </p15:clr>
        </p15:guide>
        <p15:guide id="2" orient="horz" pos="2127" userDrawn="1">
          <p15:clr>
            <a:srgbClr val="A4A3A4"/>
          </p15:clr>
        </p15:guide>
        <p15:guide id="3" pos="2440" userDrawn="1">
          <p15:clr>
            <a:srgbClr val="A4A3A4"/>
          </p15:clr>
        </p15:guide>
        <p15:guide id="4" pos="124" userDrawn="1">
          <p15:clr>
            <a:srgbClr val="A4A3A4"/>
          </p15:clr>
        </p15:guide>
        <p15:guide id="5" pos="6068" userDrawn="1">
          <p15:clr>
            <a:srgbClr val="A4A3A4"/>
          </p15:clr>
        </p15:guide>
        <p15:guide id="6" orient="horz" pos="3929">
          <p15:clr>
            <a:srgbClr val="A4A3A4"/>
          </p15:clr>
        </p15:guide>
        <p15:guide id="7" orient="horz" pos="699" userDrawn="1">
          <p15:clr>
            <a:srgbClr val="A4A3A4"/>
          </p15:clr>
        </p15:guide>
        <p15:guide id="8" orient="horz" pos="3702" userDrawn="1">
          <p15:clr>
            <a:srgbClr val="A4A3A4"/>
          </p15:clr>
        </p15:guide>
        <p15:guide id="9" orient="horz" pos="3249">
          <p15:clr>
            <a:srgbClr val="A4A3A4"/>
          </p15:clr>
        </p15:guide>
        <p15:guide id="10" orient="horz" pos="1162">
          <p15:clr>
            <a:srgbClr val="A4A3A4"/>
          </p15:clr>
        </p15:guide>
        <p15:guide id="11" pos="444" userDrawn="1">
          <p15:clr>
            <a:srgbClr val="A4A3A4"/>
          </p15:clr>
        </p15:guide>
        <p15:guide id="12" pos="262">
          <p15:clr>
            <a:srgbClr val="A4A3A4"/>
          </p15:clr>
        </p15:guide>
        <p15:guide id="13" pos="58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 userDrawn="1">
          <p15:clr>
            <a:srgbClr val="A4A3A4"/>
          </p15:clr>
        </p15:guide>
        <p15:guide id="2" pos="2137" userDrawn="1">
          <p15:clr>
            <a:srgbClr val="A4A3A4"/>
          </p15:clr>
        </p15:guide>
        <p15:guide id="3" orient="horz" pos="3124" userDrawn="1">
          <p15:clr>
            <a:srgbClr val="A4A3A4"/>
          </p15:clr>
        </p15:guide>
        <p15:guide id="4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ECED0"/>
    <a:srgbClr val="E9E9E9"/>
    <a:srgbClr val="FFFFFF"/>
    <a:srgbClr val="A9ACB3"/>
    <a:srgbClr val="FF9900"/>
    <a:srgbClr val="FFFFCC"/>
    <a:srgbClr val="DAEEF3"/>
    <a:srgbClr val="2F5597"/>
    <a:srgbClr val="D9E7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29" autoAdjust="0"/>
  </p:normalViewPr>
  <p:slideViewPr>
    <p:cSldViewPr>
      <p:cViewPr varScale="1">
        <p:scale>
          <a:sx n="63" d="100"/>
          <a:sy n="63" d="100"/>
        </p:scale>
        <p:origin x="1252" y="52"/>
      </p:cViewPr>
      <p:guideLst>
        <p:guide orient="horz" pos="453"/>
        <p:guide orient="horz" pos="2127"/>
        <p:guide pos="2440"/>
        <p:guide pos="124"/>
        <p:guide pos="6068"/>
        <p:guide orient="horz" pos="3929"/>
        <p:guide orient="horz" pos="699"/>
        <p:guide orient="horz" pos="3702"/>
        <p:guide orient="horz" pos="3249"/>
        <p:guide orient="horz" pos="1162"/>
        <p:guide pos="444"/>
        <p:guide pos="262"/>
        <p:guide pos="5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notesViewPr>
    <p:cSldViewPr>
      <p:cViewPr varScale="1">
        <p:scale>
          <a:sx n="71" d="100"/>
          <a:sy n="71" d="100"/>
        </p:scale>
        <p:origin x="-2178" y="-90"/>
      </p:cViewPr>
      <p:guideLst>
        <p:guide orient="horz" pos="3120"/>
        <p:guide pos="2137"/>
        <p:guide orient="horz" pos="3124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448" cy="4962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>
            <a:lvl1pPr algn="l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3" y="0"/>
            <a:ext cx="2945448" cy="4962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>
            <a:lvl1pPr algn="r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08025" y="741363"/>
            <a:ext cx="5381625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5" y="4715193"/>
            <a:ext cx="5437506" cy="44678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800"/>
            <a:ext cx="2945448" cy="4962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207" tIns="46103" rIns="92207" bIns="46103" numCol="1" anchor="b" anchorCtr="0" compatLnSpc="1">
            <a:prstTxWarp prst="textNoShape">
              <a:avLst/>
            </a:prstTxWarp>
          </a:bodyPr>
          <a:lstStyle>
            <a:lvl1pPr algn="l" defTabSz="922247" eaLnBrk="1" latinLnBrk="1" hangingPunct="1">
              <a:spcBef>
                <a:spcPct val="0"/>
              </a:spcBef>
              <a:buFontTx/>
              <a:buNone/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19263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76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3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41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9F25EB3-8F10-4ED0-A9A2-5CAB6BDB8F7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155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13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85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62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7638208-DBF4-4ABD-8718-C752B9F4764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8074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BFA4C302-6C80-4A39-B506-8CCE9134159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901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36ED45D6-AF39-4811-87AF-C001B73F980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52000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75B3BECB-650F-4755-92EA-F11B9BCD1FD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2277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994525" y="149225"/>
            <a:ext cx="2168525" cy="55657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88950" y="149225"/>
            <a:ext cx="6353175" cy="55657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spcBef>
                <a:spcPct val="50000"/>
              </a:spcBef>
              <a:buFont typeface="굴림" pitchFamily="50" charset="-127"/>
              <a:buNone/>
              <a:defRPr/>
            </a:lvl1pPr>
          </a:lstStyle>
          <a:p>
            <a:pPr>
              <a:defRPr/>
            </a:pPr>
            <a:fld id="{A951A513-08C6-43C1-801D-AE6A10323CC2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9508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93166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602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6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91407" tIns="45704" rIns="91407" bIns="45704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180833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979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816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660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625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857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3161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980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46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2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3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BF3E1A70-8405-4319-AD05-7599D615B23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9" name="Line 6"/>
          <p:cNvSpPr>
            <a:spLocks noChangeShapeType="1"/>
          </p:cNvSpPr>
          <p:nvPr userDrawn="1"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 txBox="1">
            <a:spLocks/>
          </p:cNvSpPr>
          <p:nvPr userDrawn="1"/>
        </p:nvSpPr>
        <p:spPr>
          <a:xfrm>
            <a:off x="3794125" y="6669088"/>
            <a:ext cx="2311400" cy="13335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fld id="{4FCE5C35-6619-4DB3-8B2C-E4CA67E0DB23}" type="slidenum">
              <a:rPr lang="ko-KR" altLang="en-US" sz="1000" smtClean="0">
                <a:solidFill>
                  <a:schemeClr val="tx1"/>
                </a:solidFill>
              </a:rPr>
              <a:pPr algn="ctr" eaLnBrk="1" hangingPunct="1">
                <a:defRPr/>
              </a:pPr>
              <a:t>‹#›</a:t>
            </a:fld>
            <a:endParaRPr lang="ko-KR" altLang="en-US" sz="10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3" r:id="rId1"/>
    <p:sldLayoutId id="214748461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371600"/>
            <a:ext cx="8585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57" tIns="45680" rIns="91357" bIns="4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2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FC6450A0-0B22-45AA-B08E-FB1FECC8EC4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3077" name="Line 6"/>
          <p:cNvSpPr>
            <a:spLocks noChangeShapeType="1"/>
          </p:cNvSpPr>
          <p:nvPr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7" r:id="rId1"/>
    <p:sldLayoutId id="214748461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/>
          </p:cNvSpPr>
          <p:nvPr userDrawn="1"/>
        </p:nvSpPr>
        <p:spPr>
          <a:xfrm>
            <a:off x="4521200" y="6694488"/>
            <a:ext cx="863600" cy="119062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2143B43F-588A-4EA4-99DD-0EFE8A689109}" type="slidenum">
              <a:rPr kumimoji="0" lang="ko-KR" altLang="en-US" sz="900" smtClean="0">
                <a:solidFill>
                  <a:prstClr val="black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00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57150" y="549275"/>
            <a:ext cx="97917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3" r:id="rId1"/>
    <p:sldLayoutId id="2147484627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88950" y="149225"/>
            <a:ext cx="8420100" cy="396875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6002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9862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34525" y="6692900"/>
            <a:ext cx="330200" cy="152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latinLnBrk="1" hangingPunct="1">
              <a:defRPr sz="1000">
                <a:solidFill>
                  <a:srgbClr val="000000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CD2811CC-7812-4243-96B6-8D44FB2BE53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125" name="Line 6"/>
          <p:cNvSpPr>
            <a:spLocks noChangeShapeType="1"/>
          </p:cNvSpPr>
          <p:nvPr userDrawn="1"/>
        </p:nvSpPr>
        <p:spPr bwMode="auto">
          <a:xfrm>
            <a:off x="74613" y="638175"/>
            <a:ext cx="9756775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 txBox="1">
            <a:spLocks/>
          </p:cNvSpPr>
          <p:nvPr/>
        </p:nvSpPr>
        <p:spPr>
          <a:xfrm>
            <a:off x="3794125" y="6669088"/>
            <a:ext cx="2311400" cy="133350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 eaLnBrk="1" hangingPunct="1">
              <a:defRPr/>
            </a:pPr>
            <a:fld id="{7E73D60E-83FB-4AAA-BB61-F7E48E5B5368}" type="slidenum">
              <a:rPr lang="ko-KR" altLang="en-US" sz="1000" smtClean="0">
                <a:solidFill>
                  <a:srgbClr val="000000"/>
                </a:solidFill>
              </a:rPr>
              <a:pPr algn="ctr" eaLnBrk="1" hangingPunct="1">
                <a:defRPr/>
              </a:pPr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9" r:id="rId1"/>
    <p:sldLayoutId id="2147484620" r:id="rId2"/>
    <p:sldLayoutId id="2147484621" r:id="rId3"/>
    <p:sldLayoutId id="2147484622" r:id="rId4"/>
    <p:sldLayoutId id="2147484623" r:id="rId5"/>
    <p:sldLayoutId id="2147484624" r:id="rId6"/>
    <p:sldLayoutId id="2147484625" r:id="rId7"/>
    <p:sldLayoutId id="2147484626" r:id="rId8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600" b="1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0" y="1371600"/>
            <a:ext cx="85852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24" tIns="45663" rIns="91324" bIns="456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4" r:id="rId1"/>
    <p:sldLayoutId id="2147484605" r:id="rId2"/>
    <p:sldLayoutId id="2147484606" r:id="rId3"/>
    <p:sldLayoutId id="2147484607" r:id="rId4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5pPr>
      <a:lvl6pPr marL="457034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6pPr>
      <a:lvl7pPr marL="91407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7pPr>
      <a:lvl8pPr marL="1371106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8pPr>
      <a:lvl9pPr marL="182814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굴림" pitchFamily="50" charset="-127"/>
          <a:ea typeface="굴림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5813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3694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0728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7764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4798" indent="-230104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0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7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11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46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81" algn="l" defTabSz="91407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/>
        </p:nvSpPr>
        <p:spPr bwMode="gray">
          <a:xfrm>
            <a:off x="4448175" y="6640513"/>
            <a:ext cx="100965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951" tIns="36976" rIns="73951" bIns="36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E0540FA-8777-4F79-A5C0-6CE94A47F9D7}" type="slidenum">
              <a:rPr kumimoji="0" lang="en-US" altLang="ko-KR" sz="923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923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8" r:id="rId1"/>
    <p:sldLayoutId id="2147484609" r:id="rId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5913" indent="-3159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 userDrawn="1"/>
        </p:nvSpPr>
        <p:spPr bwMode="gray">
          <a:xfrm>
            <a:off x="4448175" y="6640513"/>
            <a:ext cx="1009650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14" tIns="40057" rIns="80114" bIns="40057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85EF4213-695E-4C7A-9B6B-A3F3AB234D2D}" type="slidenum">
              <a:rPr kumimoji="0" lang="en-US" altLang="ko-KR" sz="1000" smtClean="0">
                <a:solidFill>
                  <a:prstClr val="black"/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1000">
              <a:solidFill>
                <a:prstClr val="black"/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0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3"/>
          <p:cNvSpPr txBox="1">
            <a:spLocks/>
          </p:cNvSpPr>
          <p:nvPr userDrawn="1"/>
        </p:nvSpPr>
        <p:spPr>
          <a:xfrm>
            <a:off x="4508500" y="6694488"/>
            <a:ext cx="863600" cy="119062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C6E8F611-2AE9-47E6-8C02-00FCF440BBB7}" type="slidenum">
              <a:rPr kumimoji="0" lang="ko-KR" altLang="en-US" sz="900" smtClean="0">
                <a:solidFill>
                  <a:prstClr val="black"/>
                </a:solidFill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ko-KR" altLang="en-US" sz="900">
              <a:solidFill>
                <a:prstClr val="black"/>
              </a:solidFill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57150" y="549275"/>
            <a:ext cx="97917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1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 flipV="1">
            <a:off x="71438" y="619125"/>
            <a:ext cx="9758362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Box 52"/>
          <p:cNvSpPr txBox="1">
            <a:spLocks noChangeArrowheads="1"/>
          </p:cNvSpPr>
          <p:nvPr userDrawn="1"/>
        </p:nvSpPr>
        <p:spPr bwMode="gray">
          <a:xfrm>
            <a:off x="4448175" y="6640513"/>
            <a:ext cx="1009650" cy="22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3951" tIns="36976" rIns="73951" bIns="36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9676B903-12F0-47A3-A460-847A4381F045}" type="slidenum">
              <a:rPr kumimoji="0" lang="en-US" altLang="ko-KR" sz="923" b="1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/>
                <a:ea typeface="-윤고딕330" pitchFamily="18" charset="-127"/>
                <a:cs typeface="산돌고딕 L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kumimoji="0" lang="en-US" altLang="ko-KR" sz="923" b="1">
              <a:solidFill>
                <a:prstClr val="black">
                  <a:lumMod val="65000"/>
                  <a:lumOff val="35000"/>
                </a:prstClr>
              </a:solidFill>
              <a:latin typeface="맑은 고딕"/>
              <a:ea typeface="-윤고딕330" pitchFamily="18" charset="-127"/>
              <a:cs typeface="산돌고딕 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2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22041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844083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266124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688165" algn="ctr" rtl="0" fontAlgn="base" latinLnBrk="1">
        <a:spcBef>
          <a:spcPct val="0"/>
        </a:spcBef>
        <a:spcAft>
          <a:spcPct val="0"/>
        </a:spcAft>
        <a:defRPr sz="406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15913" indent="-3159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5410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76375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98650" indent="-2095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1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275" y="1492909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44" y="132654"/>
            <a:ext cx="39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Summary of the Serious Accidents Punishment Act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8380" y="1807566"/>
            <a:ext cx="914915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119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This Act aims to </a:t>
            </a:r>
            <a:r>
              <a:rPr lang="en-US" altLang="en-US" sz="119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prevent serious accidents</a:t>
            </a:r>
            <a:r>
              <a:rPr lang="en-US" altLang="en-US" sz="119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and protect the lives and physical safety of citizens and </a:t>
            </a:r>
            <a:r>
              <a:rPr lang="en-US" altLang="en-US" sz="1190" dirty="0" b="1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workers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by prescribing the </a:t>
            </a:r>
            <a:r>
              <a:rPr lang="en-US" altLang="en-US" sz="1190" dirty="0" b="1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punishment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of </a:t>
            </a:r>
            <a:r>
              <a:rPr lang="en-US" altLang="en-US" sz="1190" dirty="0" b="1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business owners, responsible managing officers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190" dirty="0" b="1">
                <a:solidFill>
                  <a:srgbClr val="0000FF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public officials, and corporations</a:t>
            </a:r>
            <a:r>
              <a:rPr lang="en-US" altLang="en-US" sz="119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who cause casualties by violating </a:t>
            </a:r>
            <a:r>
              <a:rPr lang="en-US" altLang="en-US" sz="1190" dirty="0" b="1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safety and health measure duties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while 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operating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businesses or places of business</a:t>
            </a:r>
            <a:r>
              <a:rPr lang="en-US" altLang="en-US" sz="1190" dirty="0" u="sng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public-use facilities, and public transportation vehicles, or while handling raw materials or products harmful to the human body.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2F27FB-74F2-4C78-A8A7-D221E14ADE0A}"/>
              </a:ext>
            </a:extLst>
          </p:cNvPr>
          <p:cNvSpPr txBox="1"/>
          <p:nvPr/>
        </p:nvSpPr>
        <p:spPr>
          <a:xfrm>
            <a:off x="5529064" y="3429000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 Workers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C59D16-129E-4B71-B911-7CA354B496EA}"/>
              </a:ext>
            </a:extLst>
          </p:cNvPr>
          <p:cNvSpPr txBox="1"/>
          <p:nvPr/>
        </p:nvSpPr>
        <p:spPr>
          <a:xfrm>
            <a:off x="628380" y="3432880"/>
            <a:ext cx="27352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□ Serious Accidents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A7BDC91-9D61-4171-B944-E491217F7F0D}"/>
              </a:ext>
            </a:extLst>
          </p:cNvPr>
          <p:cNvSpPr/>
          <p:nvPr/>
        </p:nvSpPr>
        <p:spPr>
          <a:xfrm>
            <a:off x="5690170" y="3736777"/>
            <a:ext cx="3414170" cy="2312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b="1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Directly hired workers</a:t>
            </a:r>
            <a:endParaRPr lang="en-US" altLang="ko-KR" sz="1400" b="1" i="0" dirty="0">
              <a:solidFill>
                <a:srgbClr val="FF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 err="1" b="1">
                <a:latin typeface="맑은 고딕" panose="020B0503020000020004" pitchFamily="50" charset="-127"/>
                <a:ea typeface="맑은 고딕" panose="020B0503020000020004" pitchFamily="50" charset="-127"/>
              </a:rPr>
              <a:t>Those who provide labor</a:t>
            </a:r>
            <a:r>
              <a:rPr lang="en-US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 for consideration, regardless of the form of </a:t>
            </a:r>
            <a:r>
              <a:rPr lang="en-US" altLang="en-US" sz="1400" dirty="0" err="1" b="1">
                <a:latin typeface="맑은 고딕" panose="020B0503020000020004" pitchFamily="50" charset="-127"/>
                <a:ea typeface="맑은 고딕" panose="020B0503020000020004" pitchFamily="50" charset="-127"/>
              </a:rPr>
              <a:t>contract</a:t>
            </a:r>
            <a:r>
              <a:rPr lang="en-US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 such as contracting, outsourcing, or entrustment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Contractors</a:t>
            </a:r>
            <a:r>
              <a:rPr lang="en-US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and </a:t>
            </a:r>
            <a:r>
              <a:rPr lang="en-US" altLang="en-US" sz="140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workers of contractors</a:t>
            </a:r>
            <a:r>
              <a:rPr lang="en-US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at each stage, and </a:t>
            </a:r>
            <a:r>
              <a:rPr lang="en-US" altLang="en-US" sz="1400" dirty="0" b="1">
                <a:latin typeface="맑은 고딕" panose="020B0503020000020004" pitchFamily="50" charset="-127"/>
                <a:ea typeface="맑은 고딕" panose="020B0503020000020004" pitchFamily="50" charset="-127"/>
              </a:rPr>
              <a:t>those who provide labor</a:t>
            </a:r>
            <a:r>
              <a:rPr lang="en-US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to the contractor for consideration</a:t>
            </a:r>
            <a:endParaRPr lang="ko-KR" altLang="en-US" sz="14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DD7EEBD-9E79-4F11-BCD2-7C1EAF222F68}"/>
              </a:ext>
            </a:extLst>
          </p:cNvPr>
          <p:cNvSpPr/>
          <p:nvPr/>
        </p:nvSpPr>
        <p:spPr>
          <a:xfrm>
            <a:off x="730214" y="3740657"/>
            <a:ext cx="3414170" cy="2312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Occurrence of </a:t>
            </a: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at least 1</a:t>
            </a: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death</a:t>
            </a:r>
            <a:br/>
            <a:endParaRPr lang="en-US" altLang="ko-KR" sz="6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Occurrence of </a:t>
            </a: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at least 2</a:t>
            </a:r>
            <a:r>
              <a:rPr lang="en-US" altLang="en-US" sz="1400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injured persons requiring treatment for at least 6 months due to the same accident</a:t>
            </a:r>
            <a:br/>
            <a:endParaRPr lang="en-US" altLang="ko-KR" sz="700" dirty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19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Occurrence of at least 3 persons with occupational diseases, such as acute poisoning, prescribed by Presidential Decree due to the same hazardous factor within 1 year</a:t>
            </a:r>
            <a:endParaRPr lang="ko-KR" altLang="en-US" sz="1400" b="0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CCB2046-7447-48C4-B7F4-6282C3058A32}"/>
              </a:ext>
            </a:extLst>
          </p:cNvPr>
          <p:cNvGrpSpPr/>
          <p:nvPr/>
        </p:nvGrpSpPr>
        <p:grpSpPr>
          <a:xfrm>
            <a:off x="243679" y="780391"/>
            <a:ext cx="2982154" cy="307777"/>
            <a:chOff x="243679" y="780391"/>
            <a:chExt cx="2982154" cy="307777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C8E9042-676F-4995-928C-DADB15EA44BA}"/>
                </a:ext>
              </a:extLst>
            </p:cNvPr>
            <p:cNvSpPr txBox="1"/>
            <p:nvPr/>
          </p:nvSpPr>
          <p:spPr>
            <a:xfrm>
              <a:off x="490571" y="780391"/>
              <a:ext cx="2735262" cy="30777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Act Summary</a:t>
              </a: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7C410EDE-EA0F-4EEE-A533-758C00230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9" y="800224"/>
              <a:ext cx="246892" cy="234347"/>
            </a:xfrm>
            <a:prstGeom prst="rect">
              <a:avLst/>
            </a:prstGeom>
            <a:solidFill>
              <a:srgbClr val="5A89C1"/>
            </a:solidFill>
            <a:ln w="12700">
              <a:noFill/>
              <a:miter lim="800000"/>
              <a:headEnd/>
              <a:tailEnd/>
            </a:ln>
          </p:spPr>
          <p:txBody>
            <a:bodyPr lIns="72000" tIns="72000" rIns="72000" bIns="72000" anchor="ctr">
              <a:normAutofit/>
            </a:bodyPr>
            <a:lstStyle/>
            <a:p>
              <a:pPr algn="ctr" defTabSz="900113">
                <a:defRPr/>
              </a:pPr>
              <a:r>
                <a:rPr kumimoji="0"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533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4044" y="132654"/>
            <a:ext cx="3919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Responsible Managing Officer under the Serious Accidents Punishment Act</a:t>
            </a:r>
            <a:endParaRPr lang="ko-KR" altLang="en-US" sz="1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72083F0-7CB8-4BB9-A025-F4C44B54BC4E}"/>
              </a:ext>
            </a:extLst>
          </p:cNvPr>
          <p:cNvGrpSpPr/>
          <p:nvPr/>
        </p:nvGrpSpPr>
        <p:grpSpPr>
          <a:xfrm>
            <a:off x="196439" y="692696"/>
            <a:ext cx="4997352" cy="307777"/>
            <a:chOff x="243679" y="856680"/>
            <a:chExt cx="4997352" cy="30777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56770A-A8E8-413C-9579-D7DE92F294BE}"/>
                </a:ext>
              </a:extLst>
            </p:cNvPr>
            <p:cNvSpPr txBox="1"/>
            <p:nvPr/>
          </p:nvSpPr>
          <p:spPr>
            <a:xfrm>
              <a:off x="490570" y="856680"/>
              <a:ext cx="47504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Case of Determining Responsible Managing Officer (Aricell Fire Accident)</a:t>
              </a:r>
              <a:endPara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Rectangle 13">
              <a:extLst>
                <a:ext uri="{FF2B5EF4-FFF2-40B4-BE49-F238E27FC236}">
                  <a16:creationId xmlns:a16="http://schemas.microsoft.com/office/drawing/2014/main" id="{18B56F61-82DA-4E06-BB52-A28C72DA3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9" y="876513"/>
              <a:ext cx="246892" cy="234347"/>
            </a:xfrm>
            <a:prstGeom prst="rect">
              <a:avLst/>
            </a:prstGeom>
            <a:solidFill>
              <a:srgbClr val="5A89C1"/>
            </a:solidFill>
            <a:ln w="12700">
              <a:noFill/>
              <a:miter lim="800000"/>
              <a:headEnd/>
              <a:tailEnd/>
            </a:ln>
          </p:spPr>
          <p:txBody>
            <a:bodyPr lIns="72000" tIns="72000" rIns="72000" bIns="72000" anchor="ctr">
              <a:normAutofit/>
            </a:bodyPr>
            <a:lstStyle/>
            <a:p>
              <a:pPr algn="ctr" defTabSz="900113">
                <a:defRPr/>
              </a:pPr>
              <a:r>
                <a:rPr kumimoji="0"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B93AB8C6-0459-4E76-B43F-5AEE576D15F5}"/>
              </a:ext>
            </a:extLst>
          </p:cNvPr>
          <p:cNvSpPr/>
          <p:nvPr/>
        </p:nvSpPr>
        <p:spPr>
          <a:xfrm>
            <a:off x="776536" y="2595988"/>
            <a:ext cx="8784976" cy="38595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[Suwon District Court Case No. 2024Gohap833 Ruling] </a:t>
            </a:r>
            <a:br/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en-US" sz="1020" b="1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Before the Serious Accidents Punishment Act was enacted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a CEO of a corporation did not fall under the category of a business owner, the subject of duty under the Occupational Safety and Health Act, and although there was potential for them to be considered a violator in some cases through the reverse application of joint penalty provisions, when an accident actually occurred at a worksite, </a:t>
            </a:r>
            <a:r>
              <a:rPr lang="en-US" altLang="en-US" sz="102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punishment was primarily centered on 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site managers, plant managers, and other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on-site</a:t>
            </a:r>
            <a:r>
              <a:rPr lang="en-US" altLang="en-US" sz="1020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safety and health management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officers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due to reasons such as the CEO's lack of awareness regarding the non-performance of safety and health measure duties </a:t>
            </a:r>
            <a:r>
              <a:rPr lang="en-US" altLang="en-US" sz="1020" b="1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under the Occupational Safety and Health Act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Accordingly, the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Serious Accidents Punishment Act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clearly stipulates that responsible managing officers bear the duty to secure safety and health, thereby making the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CEO of a corporation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a subject of the crime of violating the Serious Accidents Punishment Act</a:t>
            </a:r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Therefore, in principle, a CEO should be regarded as a responsible managing officer, etc., who bears the duty of action under the Serious Accidents Punishment Act as the person in general charge of business. Even if a certain degree of management authority is granted to a third party according to the nature of business operations, 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when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recognizing a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third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party as a responsible managing officer, etc.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it is necessary to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exercise</a:t>
            </a:r>
            <a:r>
              <a:rPr lang="en-US" altLang="en-US" sz="1020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caution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in light of the aforementioned legislative intent.</a:t>
            </a:r>
          </a:p>
          <a:p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en-US" sz="102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Otherwise, a CEO could create an appearance or form to easily evade the duty of action they must bear under the Serious Accidents Punishment Act by putting forward a third party, which would result in the CEO abandoning their duty to secure the safety and health of workers that they must personally fulfill. Therefore, 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in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cases of special circumstances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such as when it is recognized as unjust to impose the duty of action under the Serious Accidents Punishment Act on a </a:t>
            </a:r>
            <a:r>
              <a:rPr lang="en-US" altLang="en-US" sz="1020" b="1" u="sng" dirty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nominal CEO</a:t>
            </a:r>
            <a:r>
              <a:rPr lang="en-US" altLang="en-US" sz="1020" u="sng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who only exists formally and neither actually exercises any management authority nor is in a position to practically exercise such authority, is it valid to view a third party as a responsible managing officer, etc., as the person in general charge of the business.</a:t>
            </a:r>
            <a:endParaRPr lang="ko-KR" altLang="en-US" sz="1400" u="sng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0067F-FC63-4902-A16A-FFF2F10E6BC7}"/>
              </a:ext>
            </a:extLst>
          </p:cNvPr>
          <p:cNvSpPr/>
          <p:nvPr/>
        </p:nvSpPr>
        <p:spPr>
          <a:xfrm>
            <a:off x="432306" y="1157419"/>
            <a:ext cx="9586520" cy="1204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23 people died in the 2024 Aricell Plant fire accident. The </a:t>
            </a:r>
            <a:r>
              <a:rPr lang="en-US" altLang="ko-KR" sz="1190" spc="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CEO</a:t>
            </a:r>
            <a:r>
              <a:rPr lang="en-US" altLang="ko-KR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claimed he was </a:t>
            </a:r>
            <a:r>
              <a:rPr lang="en-US" altLang="ko-KR" sz="1190" spc="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not the responsible managing officer</a:t>
            </a:r>
            <a:r>
              <a:rPr lang="en-US" altLang="ko-KR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because his son (Division Head) held actual authority.</a:t>
            </a:r>
            <a:br/>
            <a:br/>
            <a:endParaRPr lang="en-US" altLang="ko-KR" sz="3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80000" indent="-1800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However, the court regarded the CEO as the responsible managing officer based on the following: </a:t>
            </a:r>
            <a:br/>
            <a:r>
              <a:rPr lang="en-US" altLang="en-US" sz="1190" spc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recognition of status as CEO, ② receiving detailed reports on overall management, ③ exercising authority to instruct and supervise the Division Head when necessary, ③ holding final decision-making power and giving instructions in all areas, etc.</a:t>
            </a:r>
            <a:endParaRPr lang="en-US" altLang="ko-KR" sz="1200" spc="-15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3467755"/>
      </p:ext>
    </p:extLst>
  </p:cSld>
  <p:clrMapOvr>
    <a:masterClrMapping/>
  </p:clrMapOvr>
</p:sld>
</file>

<file path=ppt/theme/theme1.xml><?xml version="1.0" encoding="utf-8"?>
<a:theme xmlns:a="http://schemas.openxmlformats.org/drawingml/2006/main" name="8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7_01061005">
  <a:themeElements>
    <a:clrScheme name="3_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3_01061005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9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0_realpt-052">
  <a:themeElements>
    <a:clrScheme name="realpt-052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realpt-052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realpt-05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alpt-05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alpt-05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01061005">
  <a:themeElements>
    <a:clrScheme name="3_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3_01061005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fa사업현황(지도)</Template>
  <TotalTime>80352</TotalTime>
  <Words>401</Words>
  <Application>Microsoft Office PowerPoint</Application>
  <PresentationFormat>A4 용지(210x297mm)</PresentationFormat>
  <Paragraphs>24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10</vt:i4>
      </vt:variant>
      <vt:variant>
        <vt:lpstr>슬라이드 제목</vt:lpstr>
      </vt:variant>
      <vt:variant>
        <vt:i4>2</vt:i4>
      </vt:variant>
    </vt:vector>
  </HeadingPairs>
  <TitlesOfParts>
    <vt:vector size="18" baseType="lpstr">
      <vt:lpstr>HY헤드라인M</vt:lpstr>
      <vt:lpstr>굴림</vt:lpstr>
      <vt:lpstr>맑은 고딕</vt:lpstr>
      <vt:lpstr>Arial</vt:lpstr>
      <vt:lpstr>Times New Roman</vt:lpstr>
      <vt:lpstr>Wingdings</vt:lpstr>
      <vt:lpstr>8_realpt-052</vt:lpstr>
      <vt:lpstr>7_01061005</vt:lpstr>
      <vt:lpstr>9_realpt-052</vt:lpstr>
      <vt:lpstr>1_Office 테마</vt:lpstr>
      <vt:lpstr>10_realpt-052</vt:lpstr>
      <vt:lpstr>8_01061005</vt:lpstr>
      <vt:lpstr>5_Office 테마</vt:lpstr>
      <vt:lpstr>6_Office 테마</vt:lpstr>
      <vt:lpstr>2_Office 테마</vt:lpstr>
      <vt:lpstr>7_Office 테마</vt:lpstr>
      <vt:lpstr>PowerPoint 프레젠테이션</vt:lpstr>
      <vt:lpstr>PowerPoint 프레젠테이션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한전 동향</dc:title>
  <dc:creator>SEC</dc:creator>
  <cp:lastModifiedBy>하태준</cp:lastModifiedBy>
  <cp:revision>6681</cp:revision>
  <cp:lastPrinted>2020-08-31T12:17:42Z</cp:lastPrinted>
  <dcterms:created xsi:type="dcterms:W3CDTF">2011-03-16T00:11:19Z</dcterms:created>
  <dcterms:modified xsi:type="dcterms:W3CDTF">2026-01-31T03:58:48Z</dcterms:modified>
</cp:coreProperties>
</file>