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theme/theme9.xml" ContentType="application/vnd.openxmlformats-officedocument.theme+xml"/>
  <Override PartName="/ppt/slideLayouts/slideLayout2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22118" saveSubsetFonts="1">
  <p:sldMasterIdLst>
    <p:sldMasterId id="2147483807" r:id="rId1"/>
    <p:sldMasterId id="2147483972" r:id="rId2"/>
    <p:sldMasterId id="2147483981" r:id="rId3"/>
    <p:sldMasterId id="2147483990" r:id="rId4"/>
    <p:sldMasterId id="2147483994" r:id="rId5"/>
    <p:sldMasterId id="2147484014" r:id="rId6"/>
    <p:sldMasterId id="2147484021" r:id="rId7"/>
    <p:sldMasterId id="2147484026" r:id="rId8"/>
    <p:sldMasterId id="2147484031" r:id="rId9"/>
    <p:sldMasterId id="2147484033" r:id="rId10"/>
  </p:sldMasterIdLst>
  <p:notesMasterIdLst>
    <p:notesMasterId r:id="rId13"/>
  </p:notesMasterIdLst>
  <p:sldIdLst>
    <p:sldId id="1063" r:id="rId11"/>
    <p:sldId id="1144" r:id="rId12"/>
  </p:sldIdLst>
  <p:sldSz cx="9906000" cy="6858000" type="A4"/>
  <p:notesSz cx="6797675" cy="9926638"/>
  <p:defaultTextStyle>
    <a:defPPr>
      <a:defRPr lang="ko-KR"/>
    </a:defPPr>
    <a:lvl1pPr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1pPr>
    <a:lvl2pPr marL="4572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2pPr>
    <a:lvl3pPr marL="9144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3pPr>
    <a:lvl4pPr marL="13716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4pPr>
    <a:lvl5pPr marL="18288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5pPr>
    <a:lvl6pPr marL="22860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6pPr>
    <a:lvl7pPr marL="27432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7pPr>
    <a:lvl8pPr marL="32004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8pPr>
    <a:lvl9pPr marL="36576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453" userDrawn="1">
          <p15:clr>
            <a:srgbClr val="A4A3A4"/>
          </p15:clr>
        </p15:guide>
        <p15:guide id="2" orient="horz" pos="2127" userDrawn="1">
          <p15:clr>
            <a:srgbClr val="A4A3A4"/>
          </p15:clr>
        </p15:guide>
        <p15:guide id="3" pos="2440" userDrawn="1">
          <p15:clr>
            <a:srgbClr val="A4A3A4"/>
          </p15:clr>
        </p15:guide>
        <p15:guide id="4" pos="124" userDrawn="1">
          <p15:clr>
            <a:srgbClr val="A4A3A4"/>
          </p15:clr>
        </p15:guide>
        <p15:guide id="5" pos="6068" userDrawn="1">
          <p15:clr>
            <a:srgbClr val="A4A3A4"/>
          </p15:clr>
        </p15:guide>
        <p15:guide id="6" orient="horz" pos="3929">
          <p15:clr>
            <a:srgbClr val="A4A3A4"/>
          </p15:clr>
        </p15:guide>
        <p15:guide id="7" orient="horz" pos="699" userDrawn="1">
          <p15:clr>
            <a:srgbClr val="A4A3A4"/>
          </p15:clr>
        </p15:guide>
        <p15:guide id="8" orient="horz" pos="3702" userDrawn="1">
          <p15:clr>
            <a:srgbClr val="A4A3A4"/>
          </p15:clr>
        </p15:guide>
        <p15:guide id="9" orient="horz" pos="3249">
          <p15:clr>
            <a:srgbClr val="A4A3A4"/>
          </p15:clr>
        </p15:guide>
        <p15:guide id="10" orient="horz" pos="1162">
          <p15:clr>
            <a:srgbClr val="A4A3A4"/>
          </p15:clr>
        </p15:guide>
        <p15:guide id="11" pos="444" userDrawn="1">
          <p15:clr>
            <a:srgbClr val="A4A3A4"/>
          </p15:clr>
        </p15:guide>
        <p15:guide id="12" pos="262">
          <p15:clr>
            <a:srgbClr val="A4A3A4"/>
          </p15:clr>
        </p15:guide>
        <p15:guide id="13" pos="5842">
          <p15:clr>
            <a:srgbClr val="A4A3A4"/>
          </p15:clr>
        </p15:guide>
      </p15:sldGuideLst>
    </p:ext>
    <p:ext uri="{2D200454-40CA-4A62-9FC3-DE9A4176ACB9}">
      <p15:notesGuideLst xmlns:p15="http://schemas.microsoft.com/office/powerpoint/2012/main">
        <p15:guide id="1" orient="horz" pos="3120" userDrawn="1">
          <p15:clr>
            <a:srgbClr val="A4A3A4"/>
          </p15:clr>
        </p15:guide>
        <p15:guide id="2" pos="2137" userDrawn="1">
          <p15:clr>
            <a:srgbClr val="A4A3A4"/>
          </p15:clr>
        </p15:guide>
        <p15:guide id="3" orient="horz" pos="3124" userDrawn="1">
          <p15:clr>
            <a:srgbClr val="A4A3A4"/>
          </p15:clr>
        </p15:guide>
        <p15:guide id="4"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ECED0"/>
    <a:srgbClr val="E9E9E9"/>
    <a:srgbClr val="FFFFFF"/>
    <a:srgbClr val="A9ACB3"/>
    <a:srgbClr val="FF9900"/>
    <a:srgbClr val="FFFFCC"/>
    <a:srgbClr val="DAEEF3"/>
    <a:srgbClr val="2F5597"/>
    <a:srgbClr val="D9E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429" autoAdjust="0"/>
  </p:normalViewPr>
  <p:slideViewPr>
    <p:cSldViewPr>
      <p:cViewPr varScale="1">
        <p:scale>
          <a:sx n="63" d="100"/>
          <a:sy n="63" d="100"/>
        </p:scale>
        <p:origin x="1252" y="52"/>
      </p:cViewPr>
      <p:guideLst>
        <p:guide orient="horz" pos="453"/>
        <p:guide orient="horz" pos="2127"/>
        <p:guide pos="2440"/>
        <p:guide pos="124"/>
        <p:guide pos="6068"/>
        <p:guide orient="horz" pos="3929"/>
        <p:guide orient="horz" pos="699"/>
        <p:guide orient="horz" pos="3702"/>
        <p:guide orient="horz" pos="3249"/>
        <p:guide orient="horz" pos="1162"/>
        <p:guide pos="444"/>
        <p:guide pos="262"/>
        <p:guide pos="5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1" d="100"/>
        <a:sy n="91" d="100"/>
      </p:scale>
      <p:origin x="0" y="0"/>
    </p:cViewPr>
  </p:sorterViewPr>
  <p:notesViewPr>
    <p:cSldViewPr>
      <p:cViewPr varScale="1">
        <p:scale>
          <a:sx n="71" d="100"/>
          <a:sy n="71" d="100"/>
        </p:scale>
        <p:origin x="-2178" y="-90"/>
      </p:cViewPr>
      <p:guideLst>
        <p:guide orient="horz" pos="3120"/>
        <p:guide pos="2137"/>
        <p:guide orient="horz" pos="3124"/>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6627" name="Rectangle 3"/>
          <p:cNvSpPr>
            <a:spLocks noGrp="1" noChangeArrowheads="1"/>
          </p:cNvSpPr>
          <p:nvPr>
            <p:ph type="dt" idx="1"/>
          </p:nvPr>
        </p:nvSpPr>
        <p:spPr bwMode="auto">
          <a:xfrm>
            <a:off x="3850643"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r"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5604" name="Rectangle 4"/>
          <p:cNvSpPr>
            <a:spLocks noGrp="1" noRot="1" noChangeAspect="1" noChangeArrowheads="1" noTextEdit="1"/>
          </p:cNvSpPr>
          <p:nvPr>
            <p:ph type="sldImg" idx="2"/>
          </p:nvPr>
        </p:nvSpPr>
        <p:spPr bwMode="auto">
          <a:xfrm>
            <a:off x="708025" y="741363"/>
            <a:ext cx="53816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680085" y="4715193"/>
            <a:ext cx="5437506" cy="4467859"/>
          </a:xfrm>
          <a:prstGeom prst="rect">
            <a:avLst/>
          </a:prstGeom>
          <a:noFill/>
          <a:ln>
            <a:noFill/>
          </a:ln>
          <a:effectLst/>
        </p:spPr>
        <p:txBody>
          <a:bodyPr vert="horz" wrap="square" lIns="92207" tIns="46103" rIns="92207" bIns="4610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26630" name="Rectangle 6"/>
          <p:cNvSpPr>
            <a:spLocks noGrp="1" noChangeArrowheads="1"/>
          </p:cNvSpPr>
          <p:nvPr>
            <p:ph type="ftr" sz="quarter" idx="4"/>
          </p:nvPr>
        </p:nvSpPr>
        <p:spPr bwMode="auto">
          <a:xfrm>
            <a:off x="0" y="9428800"/>
            <a:ext cx="2945448" cy="496252"/>
          </a:xfrm>
          <a:prstGeom prst="rect">
            <a:avLst/>
          </a:prstGeom>
          <a:noFill/>
          <a:ln>
            <a:noFill/>
          </a:ln>
          <a:effectLst/>
        </p:spPr>
        <p:txBody>
          <a:bodyPr vert="horz" wrap="square" lIns="92207" tIns="46103" rIns="92207" bIns="46103" numCol="1" anchor="b"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Tree>
    <p:extLst>
      <p:ext uri="{BB962C8B-B14F-4D97-AF65-F5344CB8AC3E}">
        <p14:creationId xmlns:p14="http://schemas.microsoft.com/office/powerpoint/2010/main" val="152192633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76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3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41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F25EB3-8F10-4ED0-A9A2-5CAB6BDB8F71}" type="slidenum">
              <a:rPr lang="ko-KR" altLang="en-US"/>
              <a:pPr>
                <a:defRPr/>
              </a:pPr>
              <a:t>‹#›</a:t>
            </a:fld>
            <a:endParaRPr lang="en-US" altLang="ko-KR"/>
          </a:p>
        </p:txBody>
      </p:sp>
    </p:spTree>
    <p:extLst>
      <p:ext uri="{BB962C8B-B14F-4D97-AF65-F5344CB8AC3E}">
        <p14:creationId xmlns:p14="http://schemas.microsoft.com/office/powerpoint/2010/main" val="44155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13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5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628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7638208-DBF4-4ABD-8718-C752B9F47646}" type="slidenum">
              <a:rPr lang="ko-KR" altLang="en-US"/>
              <a:pPr>
                <a:defRPr/>
              </a:pPr>
              <a:t>‹#›</a:t>
            </a:fld>
            <a:endParaRPr lang="en-US" altLang="ko-KR"/>
          </a:p>
        </p:txBody>
      </p:sp>
    </p:spTree>
    <p:extLst>
      <p:ext uri="{BB962C8B-B14F-4D97-AF65-F5344CB8AC3E}">
        <p14:creationId xmlns:p14="http://schemas.microsoft.com/office/powerpoint/2010/main" val="208074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138"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BFA4C302-6C80-4A39-B506-8CCE91341594}" type="slidenum">
              <a:rPr lang="ko-KR" altLang="en-US"/>
              <a:pPr>
                <a:defRPr/>
              </a:pPr>
              <a:t>‹#›</a:t>
            </a:fld>
            <a:endParaRPr lang="en-US" altLang="ko-KR"/>
          </a:p>
        </p:txBody>
      </p:sp>
    </p:spTree>
    <p:extLst>
      <p:ext uri="{BB962C8B-B14F-4D97-AF65-F5344CB8AC3E}">
        <p14:creationId xmlns:p14="http://schemas.microsoft.com/office/powerpoint/2010/main" val="395901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513" y="4800600"/>
            <a:ext cx="59436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36ED45D6-AF39-4811-87AF-C001B73F9801}" type="slidenum">
              <a:rPr lang="ko-KR" altLang="en-US"/>
              <a:pPr>
                <a:defRPr/>
              </a:pPr>
              <a:t>‹#›</a:t>
            </a:fld>
            <a:endParaRPr lang="en-US" altLang="ko-KR"/>
          </a:p>
        </p:txBody>
      </p:sp>
    </p:spTree>
    <p:extLst>
      <p:ext uri="{BB962C8B-B14F-4D97-AF65-F5344CB8AC3E}">
        <p14:creationId xmlns:p14="http://schemas.microsoft.com/office/powerpoint/2010/main" val="1552000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75B3BECB-650F-4755-92EA-F11B9BCD1FD0}" type="slidenum">
              <a:rPr lang="ko-KR" altLang="en-US"/>
              <a:pPr>
                <a:defRPr/>
              </a:pPr>
              <a:t>‹#›</a:t>
            </a:fld>
            <a:endParaRPr lang="en-US" altLang="ko-KR"/>
          </a:p>
        </p:txBody>
      </p:sp>
    </p:spTree>
    <p:extLst>
      <p:ext uri="{BB962C8B-B14F-4D97-AF65-F5344CB8AC3E}">
        <p14:creationId xmlns:p14="http://schemas.microsoft.com/office/powerpoint/2010/main" val="3982277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994525" y="149225"/>
            <a:ext cx="2168525" cy="55657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88950" y="149225"/>
            <a:ext cx="6353175" cy="556577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51A513-08C6-43C1-801D-AE6A10323CC2}" type="slidenum">
              <a:rPr lang="ko-KR" altLang="en-US"/>
              <a:pPr>
                <a:defRPr/>
              </a:pPr>
              <a:t>‹#›</a:t>
            </a:fld>
            <a:endParaRPr lang="en-US" altLang="ko-KR"/>
          </a:p>
        </p:txBody>
      </p:sp>
    </p:spTree>
    <p:extLst>
      <p:ext uri="{BB962C8B-B14F-4D97-AF65-F5344CB8AC3E}">
        <p14:creationId xmlns:p14="http://schemas.microsoft.com/office/powerpoint/2010/main" val="110950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09316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602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lIns="91407" tIns="45704" rIns="91407" bIns="45704"/>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180833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979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816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660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625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85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16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980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4647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1027"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BF3E1A70-8405-4319-AD05-7599D615B23B}" type="slidenum">
              <a:rPr lang="ko-KR" altLang="en-US"/>
              <a:pPr>
                <a:defRPr/>
              </a:pPr>
              <a:t>‹#›</a:t>
            </a:fld>
            <a:endParaRPr lang="en-US" altLang="ko-KR"/>
          </a:p>
        </p:txBody>
      </p:sp>
      <p:sp>
        <p:nvSpPr>
          <p:cNvPr id="1029"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userDrawn="1"/>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4FCE5C35-6619-4DB3-8B2C-E4CA67E0DB23}" type="slidenum">
              <a:rPr lang="ko-KR" altLang="en-US" sz="1000" smtClean="0">
                <a:solidFill>
                  <a:schemeClr val="tx1"/>
                </a:solidFill>
              </a:rPr>
              <a:pPr algn="ctr" eaLnBrk="1" hangingPunct="1">
                <a:defRPr/>
              </a:pPr>
              <a:t>‹#›</a:t>
            </a:fld>
            <a:endParaRPr lang="ko-KR" altLang="en-US" sz="1000">
              <a:solidFill>
                <a:schemeClr val="tx1"/>
              </a:solidFill>
            </a:endParaRPr>
          </a:p>
        </p:txBody>
      </p:sp>
    </p:spTree>
  </p:cSld>
  <p:clrMap bg1="lt1" tx1="dk1" bg2="lt2" tx2="dk2" accent1="accent1" accent2="accent2" accent3="accent3" accent4="accent4" accent5="accent5" accent6="accent6" hlink="hlink" folHlink="folHlink"/>
  <p:sldLayoutIdLst>
    <p:sldLayoutId id="2147484613" r:id="rId1"/>
    <p:sldLayoutId id="2147484615"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57" tIns="45680" rIns="91357" bIns="4568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2" r:id="rId1"/>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30188"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4600" indent="-230188"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1800" indent="-230188"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9000" indent="-230188"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6200" indent="-230188"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3075"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FC6450A0-0B22-45AA-B08E-FB1FECC8EC44}" type="slidenum">
              <a:rPr lang="ko-KR" altLang="en-US"/>
              <a:pPr>
                <a:defRPr/>
              </a:pPr>
              <a:t>‹#›</a:t>
            </a:fld>
            <a:endParaRPr lang="en-US" altLang="ko-KR"/>
          </a:p>
        </p:txBody>
      </p:sp>
      <p:sp>
        <p:nvSpPr>
          <p:cNvPr id="3077" name="Line 6"/>
          <p:cNvSpPr>
            <a:spLocks noChangeShapeType="1"/>
          </p:cNvSpPr>
          <p:nvPr/>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Tree>
  </p:cSld>
  <p:clrMap bg1="lt1" tx1="dk1" bg2="lt2" tx2="dk2" accent1="accent1" accent2="accent2" accent3="accent3" accent4="accent4" accent5="accent5" accent6="accent6" hlink="hlink" folHlink="folHlink"/>
  <p:sldLayoutIdLst>
    <p:sldLayoutId id="2147484617" r:id="rId1"/>
    <p:sldLayoutId id="2147484618"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212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2143B43F-588A-4EA4-99DD-0EFE8A689109}"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3" r:id="rId1"/>
    <p:sldLayoutId id="2147484627" r:id="rId2"/>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5123"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CD2811CC-7812-4243-96B6-8D44FB2BE536}" type="slidenum">
              <a:rPr lang="ko-KR" altLang="en-US"/>
              <a:pPr>
                <a:defRPr/>
              </a:pPr>
              <a:t>‹#›</a:t>
            </a:fld>
            <a:endParaRPr lang="en-US" altLang="ko-KR"/>
          </a:p>
        </p:txBody>
      </p:sp>
      <p:sp>
        <p:nvSpPr>
          <p:cNvPr id="5125"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7E73D60E-83FB-4AAA-BB61-F7E48E5B5368}" type="slidenum">
              <a:rPr lang="ko-KR" altLang="en-US" sz="1000" smtClean="0">
                <a:solidFill>
                  <a:srgbClr val="000000"/>
                </a:solidFill>
              </a:rPr>
              <a:pPr algn="ctr" eaLnBrk="1" hangingPunct="1">
                <a:defRPr/>
              </a:pPr>
              <a:t>‹#›</a:t>
            </a:fld>
            <a:endParaRPr lang="ko-KR"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24" tIns="45663" rIns="91324" bIns="45663"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4" r:id="rId1"/>
    <p:sldLayoutId id="2147484605" r:id="rId2"/>
    <p:sldLayoutId id="2147484606" r:id="rId3"/>
    <p:sldLayoutId id="2147484607" r:id="rId4"/>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034"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07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106"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14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1313" indent="-341313"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1363" indent="-284163" algn="l" rtl="0" eaLnBrk="0" fontAlgn="base" latinLnBrk="1" hangingPunct="0">
        <a:spcBef>
          <a:spcPct val="20000"/>
        </a:spcBef>
        <a:spcAft>
          <a:spcPct val="0"/>
        </a:spcAft>
        <a:buChar char="–"/>
        <a:defRPr kumimoji="1" sz="2800">
          <a:solidFill>
            <a:schemeClr val="tx1"/>
          </a:solidFill>
          <a:latin typeface="+mn-lt"/>
          <a:ea typeface="+mn-ea"/>
        </a:defRPr>
      </a:lvl2pPr>
      <a:lvl3pPr marL="1141413" indent="-227013"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598613" indent="-227013" algn="l" rtl="0" eaLnBrk="0" fontAlgn="base" latinLnBrk="1" hangingPunct="0">
        <a:spcBef>
          <a:spcPct val="20000"/>
        </a:spcBef>
        <a:spcAft>
          <a:spcPct val="0"/>
        </a:spcAft>
        <a:buChar char="–"/>
        <a:defRPr kumimoji="1" sz="2000">
          <a:solidFill>
            <a:schemeClr val="tx1"/>
          </a:solidFill>
          <a:latin typeface="+mn-lt"/>
          <a:ea typeface="+mn-ea"/>
        </a:defRPr>
      </a:lvl4pPr>
      <a:lvl5pPr marL="2055813" indent="-228600"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3694" indent="-230104"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0728" indent="-230104"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7764" indent="-230104"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4798" indent="-230104"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070" rtl="0" eaLnBrk="1" latinLnBrk="1" hangingPunct="1">
        <a:defRPr sz="1800" kern="1200">
          <a:solidFill>
            <a:schemeClr val="tx1"/>
          </a:solidFill>
          <a:latin typeface="+mn-lt"/>
          <a:ea typeface="+mn-ea"/>
          <a:cs typeface="+mn-cs"/>
        </a:defRPr>
      </a:lvl1pPr>
      <a:lvl2pPr marL="457034" algn="l" defTabSz="914070" rtl="0" eaLnBrk="1" latinLnBrk="1" hangingPunct="1">
        <a:defRPr sz="1800" kern="1200">
          <a:solidFill>
            <a:schemeClr val="tx1"/>
          </a:solidFill>
          <a:latin typeface="+mn-lt"/>
          <a:ea typeface="+mn-ea"/>
          <a:cs typeface="+mn-cs"/>
        </a:defRPr>
      </a:lvl2pPr>
      <a:lvl3pPr marL="914070" algn="l" defTabSz="914070" rtl="0" eaLnBrk="1" latinLnBrk="1" hangingPunct="1">
        <a:defRPr sz="1800" kern="1200">
          <a:solidFill>
            <a:schemeClr val="tx1"/>
          </a:solidFill>
          <a:latin typeface="+mn-lt"/>
          <a:ea typeface="+mn-ea"/>
          <a:cs typeface="+mn-cs"/>
        </a:defRPr>
      </a:lvl3pPr>
      <a:lvl4pPr marL="1371106" algn="l" defTabSz="914070" rtl="0" eaLnBrk="1" latinLnBrk="1" hangingPunct="1">
        <a:defRPr sz="1800" kern="1200">
          <a:solidFill>
            <a:schemeClr val="tx1"/>
          </a:solidFill>
          <a:latin typeface="+mn-lt"/>
          <a:ea typeface="+mn-ea"/>
          <a:cs typeface="+mn-cs"/>
        </a:defRPr>
      </a:lvl4pPr>
      <a:lvl5pPr marL="1828140" algn="l" defTabSz="914070" rtl="0" eaLnBrk="1" latinLnBrk="1" hangingPunct="1">
        <a:defRPr sz="1800" kern="1200">
          <a:solidFill>
            <a:schemeClr val="tx1"/>
          </a:solidFill>
          <a:latin typeface="+mn-lt"/>
          <a:ea typeface="+mn-ea"/>
          <a:cs typeface="+mn-cs"/>
        </a:defRPr>
      </a:lvl5pPr>
      <a:lvl6pPr marL="2285176" algn="l" defTabSz="914070" rtl="0" eaLnBrk="1" latinLnBrk="1" hangingPunct="1">
        <a:defRPr sz="1800" kern="1200">
          <a:solidFill>
            <a:schemeClr val="tx1"/>
          </a:solidFill>
          <a:latin typeface="+mn-lt"/>
          <a:ea typeface="+mn-ea"/>
          <a:cs typeface="+mn-cs"/>
        </a:defRPr>
      </a:lvl6pPr>
      <a:lvl7pPr marL="2742211" algn="l" defTabSz="914070" rtl="0" eaLnBrk="1" latinLnBrk="1" hangingPunct="1">
        <a:defRPr sz="1800" kern="1200">
          <a:solidFill>
            <a:schemeClr val="tx1"/>
          </a:solidFill>
          <a:latin typeface="+mn-lt"/>
          <a:ea typeface="+mn-ea"/>
          <a:cs typeface="+mn-cs"/>
        </a:defRPr>
      </a:lvl7pPr>
      <a:lvl8pPr marL="3199246" algn="l" defTabSz="914070" rtl="0" eaLnBrk="1" latinLnBrk="1" hangingPunct="1">
        <a:defRPr sz="1800" kern="1200">
          <a:solidFill>
            <a:schemeClr val="tx1"/>
          </a:solidFill>
          <a:latin typeface="+mn-lt"/>
          <a:ea typeface="+mn-ea"/>
          <a:cs typeface="+mn-cs"/>
        </a:defRPr>
      </a:lvl8pPr>
      <a:lvl9pPr marL="3656281" algn="l" defTabSz="91407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E0540FA-8777-4F79-A5C0-6CE94A47F9D7}" type="slidenum">
              <a:rPr kumimoji="0" lang="en-US" altLang="ko-KR" sz="923"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08" r:id="rId1"/>
    <p:sldLayoutId id="2147484609" r:id="rId2"/>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80114" tIns="40057" rIns="80114" bIns="40057">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5EF4213-695E-4C7A-9B6B-A3F3AB234D2D}" type="slidenum">
              <a:rPr kumimoji="0" lang="en-US" altLang="ko-KR" sz="1000" smtClean="0">
                <a:solidFill>
                  <a:prstClr val="black"/>
                </a:solidFill>
                <a:latin typeface="맑은 고딕"/>
                <a:ea typeface="-윤고딕330" pitchFamily="18" charset="-127"/>
                <a:cs typeface="산돌고딕 L"/>
              </a:rPr>
              <a:pPr algn="ctr" fontAlgn="auto">
                <a:spcBef>
                  <a:spcPts val="0"/>
                </a:spcBef>
                <a:spcAft>
                  <a:spcPts val="0"/>
                </a:spcAft>
                <a:defRPr/>
              </a:pPr>
              <a:t>‹#›</a:t>
            </a:fld>
            <a:endParaRPr kumimoji="0" lang="en-US" altLang="ko-KR" sz="1000">
              <a:solidFill>
                <a:prstClr val="black"/>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0"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085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C6E8F611-2AE9-47E6-8C02-00FCF440BBB7}"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11"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9676B903-12F0-47A3-A460-847A4381F045}" type="slidenum">
              <a:rPr kumimoji="0" lang="en-US" altLang="ko-KR" sz="923" b="1"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b="1">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2" r:id="rId1"/>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275" y="1492909"/>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Purpose</a:t>
            </a:r>
          </a:p>
        </p:txBody>
      </p:sp>
      <p:sp>
        <p:nvSpPr>
          <p:cNvPr id="6" name="TextBox 5"/>
          <p:cNvSpPr txBox="1"/>
          <p:nvPr/>
        </p:nvSpPr>
        <p:spPr>
          <a:xfrm>
            <a:off x="64044" y="132654"/>
            <a:ext cx="3919235" cy="369332"/>
          </a:xfrm>
          <a:prstGeom prst="rect">
            <a:avLst/>
          </a:prstGeom>
          <a:noFill/>
        </p:spPr>
        <p:txBody>
          <a:bodyPr wrap="square" rtlCol="0">
            <a:spAutoFit/>
          </a:bodyPr>
          <a:lstStyle/>
          <a:p>
            <a:r>
              <a:rPr lang="en-US" altLang="ko-KR" sz="1260" b="1" dirty="0">
                <a:latin typeface="맑은 고딕" panose="020B0503020000020004" pitchFamily="50" charset="-127"/>
                <a:ea typeface="맑은 고딕" panose="020B0503020000020004" pitchFamily="50" charset="-127"/>
              </a:rPr>
              <a:t>1</a:t>
            </a:r>
            <a:r>
              <a:rPr lang="en-US" altLang="ko-KR" sz="1260" b="1" dirty="0">
                <a:latin typeface="맑은 고딕" panose="020B0503020000020004" pitchFamily="50" charset="-127"/>
                <a:ea typeface="맑은 고딕" panose="020B0503020000020004" pitchFamily="50" charset="-127"/>
              </a:rPr>
              <a:t>. </a:t>
            </a:r>
            <a:r>
              <a:rPr lang="en-US" altLang="ko-KR" sz="1260" b="1" dirty="0">
                <a:latin typeface="맑은 고딕" panose="020B0503020000020004" pitchFamily="50" charset="-127"/>
                <a:ea typeface="맑은 고딕" panose="020B0503020000020004" pitchFamily="50" charset="-127"/>
              </a:rPr>
              <a:t>Serious Accidents Punishment Act Overview</a:t>
            </a:r>
            <a:endParaRPr lang="ko-KR" altLang="en-US" sz="1800" b="1" dirty="0">
              <a:latin typeface="맑은 고딕" panose="020B0503020000020004" pitchFamily="50" charset="-127"/>
              <a:ea typeface="맑은 고딕" panose="020B0503020000020004" pitchFamily="50" charset="-127"/>
            </a:endParaRPr>
          </a:p>
        </p:txBody>
      </p:sp>
      <p:sp>
        <p:nvSpPr>
          <p:cNvPr id="45" name="TextBox 44"/>
          <p:cNvSpPr txBox="1"/>
          <p:nvPr/>
        </p:nvSpPr>
        <p:spPr>
          <a:xfrm>
            <a:off x="628380" y="1807566"/>
            <a:ext cx="9149155" cy="1020216"/>
          </a:xfrm>
          <a:prstGeom prst="rect">
            <a:avLst/>
          </a:prstGeom>
          <a:noFill/>
        </p:spPr>
        <p:txBody>
          <a:bodyPr wrap="square" rtlCol="0">
            <a:spAutoFit/>
          </a:bodyPr>
          <a:lstStyle/>
          <a:p>
            <a:pPr>
              <a:lnSpc>
                <a:spcPct val="150000"/>
              </a:lnSpc>
            </a:pPr>
            <a:r>
              <a:rPr lang="en-US" altLang="en-US" sz="979" dirty="0">
                <a:latin typeface="맑은 고딕" panose="020B0503020000020004" pitchFamily="50" charset="-127"/>
                <a:ea typeface="맑은 고딕" panose="020B0503020000020004" pitchFamily="50" charset="-127"/>
              </a:rPr>
              <a:t>The purpose of this Act is to </a:t>
            </a:r>
            <a:r>
              <a:rPr lang="en-US" altLang="en-US" sz="979" dirty="0" b="1" u="sng">
                <a:latin typeface="맑은 고딕" panose="020B0503020000020004" pitchFamily="50" charset="-127"/>
                <a:ea typeface="맑은 고딕" panose="020B0503020000020004" pitchFamily="50" charset="-127"/>
              </a:rPr>
              <a:t>prevent serious accidents</a:t>
            </a:r>
            <a:r>
              <a:rPr lang="en-US" altLang="en-US" sz="979" dirty="0">
                <a:latin typeface="맑은 고딕" panose="020B0503020000020004" pitchFamily="50" charset="-127"/>
                <a:ea typeface="맑은 고딕" panose="020B0503020000020004" pitchFamily="50" charset="-127"/>
              </a:rPr>
              <a:t> and protect the lives and physical safety of citizens and </a:t>
            </a:r>
            <a:r>
              <a:rPr lang="en-US" altLang="en-US" sz="979" dirty="0" b="1">
                <a:highlight>
                  <a:srgbClr val="FFFF00"/>
                </a:highlight>
                <a:latin typeface="맑은 고딕" panose="020B0503020000020004" pitchFamily="50" charset="-127"/>
                <a:ea typeface="맑은 고딕" panose="020B0503020000020004" pitchFamily="50" charset="-127"/>
              </a:rPr>
              <a:t>workers</a:t>
            </a:r>
            <a:r>
              <a:rPr lang="en-US" altLang="en-US" sz="979" dirty="0">
                <a:highlight>
                  <a:srgbClr val="FFFF00"/>
                </a:highlight>
                <a:latin typeface="맑은 고딕" panose="020B0503020000020004" pitchFamily="50" charset="-127"/>
                <a:ea typeface="맑은 고딕" panose="020B0503020000020004" pitchFamily="50" charset="-127"/>
              </a:rPr>
              <a:t> by prescribing </a:t>
            </a:r>
            <a:r>
              <a:rPr lang="en-US" altLang="en-US" sz="979" dirty="0" b="1" u="sng">
                <a:highlight>
                  <a:srgbClr val="FFFF00"/>
                </a:highlight>
                <a:latin typeface="맑은 고딕" panose="020B0503020000020004" pitchFamily="50" charset="-127"/>
                <a:ea typeface="맑은 고딕" panose="020B0503020000020004" pitchFamily="50" charset="-127"/>
              </a:rPr>
              <a:t>punishment</a:t>
            </a:r>
            <a:r>
              <a:rPr lang="en-US" altLang="en-US" sz="979" dirty="0">
                <a:highlight>
                  <a:srgbClr val="FFFF00"/>
                </a:highlight>
                <a:latin typeface="맑은 고딕" panose="020B0503020000020004" pitchFamily="50" charset="-127"/>
                <a:ea typeface="맑은 고딕" panose="020B0503020000020004" pitchFamily="50" charset="-127"/>
              </a:rPr>
              <a:t>, etc., for </a:t>
            </a:r>
            <a:r>
              <a:rPr lang="en-US" altLang="en-US" sz="979" dirty="0" b="1" u="sng">
                <a:highlight>
                  <a:srgbClr val="FFFF00"/>
                </a:highlight>
                <a:latin typeface="맑은 고딕" panose="020B0503020000020004" pitchFamily="50" charset="-127"/>
                <a:ea typeface="맑은 고딕" panose="020B0503020000020004" pitchFamily="50" charset="-127"/>
              </a:rPr>
              <a:t>business owners, responsible managing officers,</a:t>
            </a:r>
            <a:r>
              <a:rPr lang="en-US" altLang="en-US" sz="979" dirty="0">
                <a:highlight>
                  <a:srgbClr val="FFFF00"/>
                </a:highlight>
                <a:latin typeface="맑은 고딕" panose="020B0503020000020004" pitchFamily="50" charset="-127"/>
                <a:ea typeface="맑은 고딕" panose="020B0503020000020004" pitchFamily="50" charset="-127"/>
              </a:rPr>
              <a:t> </a:t>
            </a:r>
            <a:r>
              <a:rPr lang="en-US" altLang="en-US" sz="979" dirty="0" b="1">
                <a:solidFill>
                  <a:srgbClr val="0000FF"/>
                </a:solidFill>
                <a:highlight>
                  <a:srgbClr val="FFFF00"/>
                </a:highlight>
                <a:latin typeface="맑은 고딕" panose="020B0503020000020004" pitchFamily="50" charset="-127"/>
                <a:ea typeface="맑은 고딕" panose="020B0503020000020004" pitchFamily="50" charset="-127"/>
              </a:rPr>
              <a:t>public officials, and corporations</a:t>
            </a:r>
            <a:r>
              <a:rPr lang="en-US" altLang="en-US" sz="979" dirty="0">
                <a:highlight>
                  <a:srgbClr val="FFFF00"/>
                </a:highlight>
                <a:latin typeface="맑은 고딕" panose="020B0503020000020004" pitchFamily="50" charset="-127"/>
                <a:ea typeface="맑은 고딕" panose="020B0503020000020004" pitchFamily="50" charset="-127"/>
              </a:rPr>
              <a:t> that </a:t>
            </a:r>
            <a:r>
              <a:rPr lang="en-US" altLang="en-US" sz="979" dirty="0" u="sng">
                <a:highlight>
                  <a:srgbClr val="FFFF00"/>
                </a:highlight>
                <a:latin typeface="맑은 고딕" panose="020B0503020000020004" pitchFamily="50" charset="-127"/>
                <a:ea typeface="맑은 고딕" panose="020B0503020000020004" pitchFamily="50" charset="-127"/>
              </a:rPr>
              <a:t>operate </a:t>
            </a:r>
            <a:r>
              <a:rPr lang="en-US" altLang="en-US" sz="979" dirty="0" u="sng">
                <a:highlight>
                  <a:srgbClr val="FFFF00"/>
                </a:highlight>
                <a:latin typeface="맑은 고딕" panose="020B0503020000020004" pitchFamily="50" charset="-127"/>
                <a:ea typeface="맑은 고딕" panose="020B0503020000020004" pitchFamily="50" charset="-127"/>
              </a:rPr>
              <a:t>businesses or places of business</a:t>
            </a:r>
            <a:r>
              <a:rPr lang="en-US" altLang="en-US" sz="979" dirty="0">
                <a:highlight>
                  <a:srgbClr val="FFFF00"/>
                </a:highlight>
                <a:latin typeface="맑은 고딕" panose="020B0503020000020004" pitchFamily="50" charset="-127"/>
                <a:ea typeface="맑은 고딕" panose="020B0503020000020004" pitchFamily="50" charset="-127"/>
              </a:rPr>
              <a:t>, public-use facilities, and public transportation, or handle raw materials or products harmful to the human body and </a:t>
            </a:r>
            <a:r>
              <a:rPr lang="en-US" altLang="en-US" sz="979" dirty="0" u="sng">
                <a:highlight>
                  <a:srgbClr val="FFFF00"/>
                </a:highlight>
                <a:latin typeface="맑은 고딕" panose="020B0503020000020004" pitchFamily="50" charset="-127"/>
                <a:ea typeface="맑은 고딕" panose="020B0503020000020004" pitchFamily="50" charset="-127"/>
              </a:rPr>
              <a:t>cause casualties by violating </a:t>
            </a:r>
            <a:r>
              <a:rPr lang="en-US" altLang="en-US" sz="979" dirty="0" b="1" u="sng">
                <a:highlight>
                  <a:srgbClr val="FFFF00"/>
                </a:highlight>
                <a:latin typeface="맑은 고딕" panose="020B0503020000020004" pitchFamily="50" charset="-127"/>
                <a:ea typeface="맑은 고딕" panose="020B0503020000020004" pitchFamily="50" charset="-127"/>
              </a:rPr>
              <a:t>safety and health</a:t>
            </a:r>
            <a:r>
              <a:rPr lang="en-US" altLang="en-US" sz="979" dirty="0" b="1" u="sng">
                <a:highlight>
                  <a:srgbClr val="FFFF00"/>
                </a:highlight>
                <a:latin typeface="맑은 고딕" panose="020B0503020000020004" pitchFamily="50" charset="-127"/>
                <a:ea typeface="맑은 고딕" panose="020B0503020000020004" pitchFamily="50" charset="-127"/>
              </a:rPr>
              <a:t> measure duties</a:t>
            </a:r>
            <a:r>
              <a:rPr lang="en-US" altLang="en-US" sz="979" dirty="0">
                <a:highlight>
                  <a:srgbClr val="FFFF00"/>
                </a:highlight>
                <a:latin typeface="맑은 고딕" panose="020B0503020000020004" pitchFamily="50" charset="-127"/>
                <a:ea typeface="맑은 고딕" panose="020B0503020000020004" pitchFamily="50" charset="-127"/>
              </a:rPr>
              <a:t>.</a:t>
            </a:r>
            <a:endParaRPr lang="ko-KR" altLang="en-US" sz="1400" dirty="0">
              <a:latin typeface="맑은 고딕" panose="020B0503020000020004" pitchFamily="50" charset="-127"/>
              <a:ea typeface="맑은 고딕" panose="020B0503020000020004" pitchFamily="50" charset="-127"/>
            </a:endParaRPr>
          </a:p>
        </p:txBody>
      </p:sp>
      <p:sp>
        <p:nvSpPr>
          <p:cNvPr id="58" name="TextBox 57">
            <a:extLst>
              <a:ext uri="{FF2B5EF4-FFF2-40B4-BE49-F238E27FC236}">
                <a16:creationId xmlns:a16="http://schemas.microsoft.com/office/drawing/2014/main" id="{5A2F27FB-74F2-4C78-A8A7-D221E14ADE0A}"/>
              </a:ext>
            </a:extLst>
          </p:cNvPr>
          <p:cNvSpPr txBox="1"/>
          <p:nvPr/>
        </p:nvSpPr>
        <p:spPr>
          <a:xfrm>
            <a:off x="5529064" y="3429000"/>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Workers</a:t>
            </a:r>
          </a:p>
        </p:txBody>
      </p:sp>
      <p:sp>
        <p:nvSpPr>
          <p:cNvPr id="63" name="TextBox 62">
            <a:extLst>
              <a:ext uri="{FF2B5EF4-FFF2-40B4-BE49-F238E27FC236}">
                <a16:creationId xmlns:a16="http://schemas.microsoft.com/office/drawing/2014/main" id="{8FC59D16-129E-4B71-B911-7CA354B496EA}"/>
              </a:ext>
            </a:extLst>
          </p:cNvPr>
          <p:cNvSpPr txBox="1"/>
          <p:nvPr/>
        </p:nvSpPr>
        <p:spPr>
          <a:xfrm>
            <a:off x="628380" y="3432880"/>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 Serious Accidents</a:t>
            </a:r>
          </a:p>
        </p:txBody>
      </p:sp>
      <p:sp>
        <p:nvSpPr>
          <p:cNvPr id="19" name="직사각형 18">
            <a:extLst>
              <a:ext uri="{FF2B5EF4-FFF2-40B4-BE49-F238E27FC236}">
                <a16:creationId xmlns:a16="http://schemas.microsoft.com/office/drawing/2014/main" id="{4A7BDC91-9D61-4171-B944-E491217F7F0D}"/>
              </a:ext>
            </a:extLst>
          </p:cNvPr>
          <p:cNvSpPr/>
          <p:nvPr/>
        </p:nvSpPr>
        <p:spPr>
          <a:xfrm>
            <a:off x="5690170" y="373677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979" b="1" dirty="0">
                <a:effectLst/>
                <a:solidFill>
                  <a:srgbClr val="FF0000"/>
                </a:solidFill>
                <a:latin typeface="맑은 고딕" panose="020B0503020000020004" pitchFamily="50" charset="-127"/>
                <a:ea typeface="맑은 고딕" panose="020B0503020000020004" pitchFamily="50" charset="-127"/>
              </a:rPr>
              <a:t>Directly hired employees</a:t>
            </a:r>
            <a:endParaRPr lang="en-US" altLang="ko-KR" sz="1400" b="1" i="0" dirty="0">
              <a:solidFill>
                <a:srgbClr val="FF0000"/>
              </a:solidFill>
              <a:effectLst/>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err="1" b="1">
                <a:latin typeface="맑은 고딕" panose="020B0503020000020004" pitchFamily="50" charset="-127"/>
                <a:ea typeface="맑은 고딕" panose="020B0503020000020004" pitchFamily="50" charset="-127"/>
              </a:rPr>
              <a:t>Persons who provide labor</a:t>
            </a:r>
            <a:r>
              <a:rPr lang="en-US" altLang="en-US" sz="979" dirty="0" err="1">
                <a:latin typeface="맑은 고딕" panose="020B0503020000020004" pitchFamily="50" charset="-127"/>
                <a:ea typeface="맑은 고딕" panose="020B0503020000020004" pitchFamily="50" charset="-127"/>
              </a:rPr>
              <a:t> for consideration, regardless of the form of </a:t>
            </a:r>
            <a:r>
              <a:rPr lang="en-US" altLang="en-US" sz="979" dirty="0" err="1" b="1">
                <a:latin typeface="맑은 고딕" panose="020B0503020000020004" pitchFamily="50" charset="-127"/>
                <a:ea typeface="맑은 고딕" panose="020B0503020000020004" pitchFamily="50" charset="-127"/>
              </a:rPr>
              <a:t>contract</a:t>
            </a:r>
            <a:r>
              <a:rPr lang="en-US" altLang="en-US" sz="979" dirty="0" err="1">
                <a:latin typeface="맑은 고딕" panose="020B0503020000020004" pitchFamily="50" charset="-127"/>
                <a:ea typeface="맑은 고딕" panose="020B0503020000020004" pitchFamily="50" charset="-127"/>
              </a:rPr>
              <a:t> such as contracting, outsourcing, or entrustment</a:t>
            </a:r>
          </a:p>
          <a:p>
            <a:pPr marL="171450" indent="-171450">
              <a:lnSpc>
                <a:spcPct val="150000"/>
              </a:lnSpc>
              <a:buFont typeface="Wingdings" panose="05000000000000000000" pitchFamily="2" charset="2"/>
              <a:buChar char="§"/>
            </a:pPr>
            <a:r>
              <a:rPr lang="en-US" altLang="en-US" sz="979" dirty="0" b="1">
                <a:latin typeface="맑은 고딕" panose="020B0503020000020004" pitchFamily="50" charset="-127"/>
                <a:ea typeface="맑은 고딕" panose="020B0503020000020004" pitchFamily="50" charset="-127"/>
              </a:rPr>
              <a:t>Contractors</a:t>
            </a:r>
            <a:r>
              <a:rPr lang="en-US" altLang="en-US" sz="979" dirty="0">
                <a:latin typeface="맑은 고딕" panose="020B0503020000020004" pitchFamily="50" charset="-127"/>
                <a:ea typeface="맑은 고딕" panose="020B0503020000020004" pitchFamily="50" charset="-127"/>
              </a:rPr>
              <a:t> and </a:t>
            </a:r>
            <a:r>
              <a:rPr lang="en-US" altLang="en-US" sz="979" dirty="0" b="1">
                <a:latin typeface="맑은 고딕" panose="020B0503020000020004" pitchFamily="50" charset="-127"/>
                <a:ea typeface="맑은 고딕" panose="020B0503020000020004" pitchFamily="50" charset="-127"/>
              </a:rPr>
              <a:t>their workers</a:t>
            </a:r>
            <a:r>
              <a:rPr lang="en-US" altLang="en-US" sz="979" dirty="0">
                <a:latin typeface="맑은 고딕" panose="020B0503020000020004" pitchFamily="50" charset="-127"/>
                <a:ea typeface="맑은 고딕" panose="020B0503020000020004" pitchFamily="50" charset="-127"/>
              </a:rPr>
              <a:t> at each stage, and </a:t>
            </a:r>
            <a:r>
              <a:rPr lang="en-US" altLang="en-US" sz="979" dirty="0" b="1">
                <a:latin typeface="맑은 고딕" panose="020B0503020000020004" pitchFamily="50" charset="-127"/>
                <a:ea typeface="맑은 고딕" panose="020B0503020000020004" pitchFamily="50" charset="-127"/>
              </a:rPr>
              <a:t>persons who provide labor</a:t>
            </a:r>
            <a:r>
              <a:rPr lang="en-US" altLang="en-US" sz="979" dirty="0">
                <a:latin typeface="맑은 고딕" panose="020B0503020000020004" pitchFamily="50" charset="-127"/>
                <a:ea typeface="맑은 고딕" panose="020B0503020000020004" pitchFamily="50" charset="-127"/>
              </a:rPr>
              <a:t> to the contractors for consideration</a:t>
            </a:r>
            <a:endParaRPr lang="ko-KR" altLang="en-US" sz="1400" b="1" i="0" dirty="0">
              <a:effectLst/>
              <a:latin typeface="맑은 고딕" panose="020B0503020000020004" pitchFamily="50" charset="-127"/>
              <a:ea typeface="맑은 고딕" panose="020B0503020000020004" pitchFamily="50" charset="-127"/>
            </a:endParaRPr>
          </a:p>
        </p:txBody>
      </p:sp>
      <p:sp>
        <p:nvSpPr>
          <p:cNvPr id="66" name="직사각형 65">
            <a:extLst>
              <a:ext uri="{FF2B5EF4-FFF2-40B4-BE49-F238E27FC236}">
                <a16:creationId xmlns:a16="http://schemas.microsoft.com/office/drawing/2014/main" id="{0DD7EEBD-9E79-4F11-BCD2-7C1EAF222F68}"/>
              </a:ext>
            </a:extLst>
          </p:cNvPr>
          <p:cNvSpPr/>
          <p:nvPr/>
        </p:nvSpPr>
        <p:spPr>
          <a:xfrm>
            <a:off x="730214" y="374065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979" dirty="0">
                <a:solidFill>
                  <a:srgbClr val="0000FF"/>
                </a:solidFill>
                <a:latin typeface="맑은 고딕" panose="020B0503020000020004" pitchFamily="50" charset="-127"/>
                <a:ea typeface="맑은 고딕" panose="020B0503020000020004" pitchFamily="50" charset="-127"/>
              </a:rPr>
              <a:t>At least </a:t>
            </a:r>
            <a:r>
              <a:rPr lang="en-US" altLang="en-US" sz="979" dirty="0">
                <a:solidFill>
                  <a:srgbClr val="0000FF"/>
                </a:solidFill>
                <a:latin typeface="맑은 고딕" panose="020B0503020000020004" pitchFamily="50" charset="-127"/>
                <a:ea typeface="맑은 고딕" panose="020B0503020000020004" pitchFamily="50" charset="-127"/>
              </a:rPr>
              <a:t>1</a:t>
            </a:r>
            <a:r>
              <a:rPr lang="en-US" altLang="en-US" sz="979" dirty="0">
                <a:solidFill>
                  <a:srgbClr val="0000FF"/>
                </a:solidFill>
                <a:latin typeface="맑은 고딕" panose="020B0503020000020004" pitchFamily="50" charset="-127"/>
                <a:ea typeface="맑은 고딕" panose="020B0503020000020004" pitchFamily="50" charset="-127"/>
              </a:rPr>
              <a:t> death occurs</a:t>
            </a:r>
            <a:br/>
            <a:endParaRPr lang="en-US" altLang="ko-KR" sz="6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a:solidFill>
                  <a:srgbClr val="0000FF"/>
                </a:solidFill>
                <a:latin typeface="맑은 고딕" panose="020B0503020000020004" pitchFamily="50" charset="-127"/>
                <a:ea typeface="맑은 고딕" panose="020B0503020000020004" pitchFamily="50" charset="-127"/>
              </a:rPr>
              <a:t>At least </a:t>
            </a:r>
            <a:r>
              <a:rPr lang="en-US" altLang="en-US" sz="979" dirty="0">
                <a:solidFill>
                  <a:srgbClr val="0000FF"/>
                </a:solidFill>
                <a:latin typeface="맑은 고딕" panose="020B0503020000020004" pitchFamily="50" charset="-127"/>
                <a:ea typeface="맑은 고딕" panose="020B0503020000020004" pitchFamily="50" charset="-127"/>
              </a:rPr>
              <a:t>2</a:t>
            </a:r>
            <a:r>
              <a:rPr lang="en-US" altLang="en-US" sz="979" dirty="0">
                <a:solidFill>
                  <a:srgbClr val="0000FF"/>
                </a:solidFill>
                <a:latin typeface="맑은 고딕" panose="020B0503020000020004" pitchFamily="50" charset="-127"/>
                <a:ea typeface="맑은 고딕" panose="020B0503020000020004" pitchFamily="50" charset="-127"/>
              </a:rPr>
              <a:t> injured persons requiring treatment for 6 months or more due to the same accident</a:t>
            </a:r>
            <a:br/>
            <a:endParaRPr lang="en-US" altLang="ko-KR" sz="7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979" dirty="0">
                <a:latin typeface="맑은 고딕" panose="020B0503020000020004" pitchFamily="50" charset="-127"/>
                <a:ea typeface="맑은 고딕" panose="020B0503020000020004" pitchFamily="50" charset="-127"/>
              </a:rPr>
              <a:t>At least 3 persons with occupational diseases, such as acute poisoning as prescribed by Presidential Decree, occur within one year due to the same hazardous factor</a:t>
            </a:r>
            <a:endParaRPr lang="ko-KR" altLang="en-US" sz="1400" b="0" i="0" dirty="0">
              <a:effectLst/>
              <a:latin typeface="맑은 고딕" panose="020B0503020000020004" pitchFamily="50" charset="-127"/>
              <a:ea typeface="맑은 고딕" panose="020B0503020000020004" pitchFamily="50" charset="-127"/>
            </a:endParaRPr>
          </a:p>
        </p:txBody>
      </p:sp>
      <p:grpSp>
        <p:nvGrpSpPr>
          <p:cNvPr id="21" name="그룹 20">
            <a:extLst>
              <a:ext uri="{FF2B5EF4-FFF2-40B4-BE49-F238E27FC236}">
                <a16:creationId xmlns:a16="http://schemas.microsoft.com/office/drawing/2014/main" id="{6CCB2046-7447-48C4-B7F4-6282C3058A32}"/>
              </a:ext>
            </a:extLst>
          </p:cNvPr>
          <p:cNvGrpSpPr/>
          <p:nvPr/>
        </p:nvGrpSpPr>
        <p:grpSpPr>
          <a:xfrm>
            <a:off x="243679" y="780391"/>
            <a:ext cx="2982154" cy="307777"/>
            <a:chOff x="243679" y="780391"/>
            <a:chExt cx="2982154" cy="307777"/>
          </a:xfrm>
        </p:grpSpPr>
        <p:sp>
          <p:nvSpPr>
            <p:cNvPr id="70" name="TextBox 69">
              <a:extLst>
                <a:ext uri="{FF2B5EF4-FFF2-40B4-BE49-F238E27FC236}">
                  <a16:creationId xmlns:a16="http://schemas.microsoft.com/office/drawing/2014/main" id="{CC8E9042-676F-4995-928C-DADB15EA44BA}"/>
                </a:ext>
              </a:extLst>
            </p:cNvPr>
            <p:cNvSpPr txBox="1"/>
            <p:nvPr/>
          </p:nvSpPr>
          <p:spPr>
            <a:xfrm>
              <a:off x="490571" y="780391"/>
              <a:ext cx="2735262" cy="307777"/>
            </a:xfrm>
            <a:prstGeom prst="rect">
              <a:avLst/>
            </a:prstGeom>
            <a:noFill/>
          </p:spPr>
          <p:txBody>
            <a:bodyPr>
              <a:spAutoFit/>
            </a:bodyPr>
            <a:lstStyle/>
            <a:p>
              <a:pPr>
                <a:defRPr/>
              </a:pPr>
              <a:r>
                <a:rPr lang="en-US" altLang="en-US" sz="979" b="1" dirty="0">
                  <a:latin typeface="맑은 고딕" panose="020B0503020000020004" pitchFamily="50" charset="-127"/>
                  <a:ea typeface="맑은 고딕" panose="020B0503020000020004" pitchFamily="50" charset="-127"/>
                </a:rPr>
                <a:t>Act Overview</a:t>
              </a:r>
            </a:p>
          </p:txBody>
        </p:sp>
        <p:sp>
          <p:nvSpPr>
            <p:cNvPr id="71" name="Rectangle 13">
              <a:extLst>
                <a:ext uri="{FF2B5EF4-FFF2-40B4-BE49-F238E27FC236}">
                  <a16:creationId xmlns:a16="http://schemas.microsoft.com/office/drawing/2014/main" id="{7C410EDE-EA0F-4EEE-A533-758C00230822}"/>
                </a:ext>
              </a:extLst>
            </p:cNvPr>
            <p:cNvSpPr>
              <a:spLocks noChangeArrowheads="1"/>
            </p:cNvSpPr>
            <p:nvPr/>
          </p:nvSpPr>
          <p:spPr bwMode="auto">
            <a:xfrm>
              <a:off x="243679" y="800224"/>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1</a:t>
              </a:r>
            </a:p>
          </p:txBody>
        </p:sp>
      </p:grpSp>
    </p:spTree>
    <p:extLst>
      <p:ext uri="{BB962C8B-B14F-4D97-AF65-F5344CB8AC3E}">
        <p14:creationId xmlns:p14="http://schemas.microsoft.com/office/powerpoint/2010/main" val="3755336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044" y="132654"/>
            <a:ext cx="3919235" cy="369332"/>
          </a:xfrm>
          <a:prstGeom prst="rect">
            <a:avLst/>
          </a:prstGeom>
          <a:noFill/>
        </p:spPr>
        <p:txBody>
          <a:bodyPr wrap="square" rtlCol="0">
            <a:spAutoFit/>
          </a:bodyPr>
          <a:lstStyle/>
          <a:p>
            <a:r>
              <a:rPr lang="en-US" altLang="ko-KR" sz="1260" b="1" dirty="0">
                <a:latin typeface="맑은 고딕" panose="020B0503020000020004" pitchFamily="50" charset="-127"/>
                <a:ea typeface="맑은 고딕" panose="020B0503020000020004" pitchFamily="50" charset="-127"/>
              </a:rPr>
              <a:t>2. Responsible Managing Officers Under the Serious Accidents Punishment Act</a:t>
            </a:r>
            <a:r>
              <a:rPr lang="en-US" altLang="ko-KR" sz="1260" dirty="0">
                <a:latin typeface="맑은 고딕" panose="020B0503020000020004" pitchFamily="50" charset="-127"/>
                <a:ea typeface="맑은 고딕" panose="020B0503020000020004" pitchFamily="50" charset="-127"/>
              </a:rPr>
              <a:t> </a:t>
            </a:r>
            <a:endParaRPr lang="ko-KR" altLang="en-US" sz="1800" b="1" dirty="0">
              <a:latin typeface="맑은 고딕" panose="020B0503020000020004" pitchFamily="50" charset="-127"/>
              <a:ea typeface="맑은 고딕" panose="020B0503020000020004" pitchFamily="50" charset="-127"/>
            </a:endParaRPr>
          </a:p>
        </p:txBody>
      </p:sp>
      <p:grpSp>
        <p:nvGrpSpPr>
          <p:cNvPr id="16" name="그룹 15">
            <a:extLst>
              <a:ext uri="{FF2B5EF4-FFF2-40B4-BE49-F238E27FC236}">
                <a16:creationId xmlns:a16="http://schemas.microsoft.com/office/drawing/2014/main" id="{372083F0-7CB8-4BB9-A025-F4C44B54BC4E}"/>
              </a:ext>
            </a:extLst>
          </p:cNvPr>
          <p:cNvGrpSpPr/>
          <p:nvPr/>
        </p:nvGrpSpPr>
        <p:grpSpPr>
          <a:xfrm>
            <a:off x="196439" y="692696"/>
            <a:ext cx="4997352" cy="307777"/>
            <a:chOff x="243679" y="856680"/>
            <a:chExt cx="4997352" cy="307777"/>
          </a:xfrm>
        </p:grpSpPr>
        <p:sp>
          <p:nvSpPr>
            <p:cNvPr id="17" name="TextBox 16">
              <a:extLst>
                <a:ext uri="{FF2B5EF4-FFF2-40B4-BE49-F238E27FC236}">
                  <a16:creationId xmlns:a16="http://schemas.microsoft.com/office/drawing/2014/main" id="{0D56770A-A8E8-413C-9579-D7DE92F294BE}"/>
                </a:ext>
              </a:extLst>
            </p:cNvPr>
            <p:cNvSpPr txBox="1"/>
            <p:nvPr/>
          </p:nvSpPr>
          <p:spPr>
            <a:xfrm>
              <a:off x="490570" y="856680"/>
              <a:ext cx="4750461" cy="307777"/>
            </a:xfrm>
            <a:prstGeom prst="rect">
              <a:avLst/>
            </a:prstGeom>
            <a:noFill/>
          </p:spPr>
          <p:txBody>
            <a:bodyPr wrap="square">
              <a:spAutoFit/>
            </a:bodyPr>
            <a:lstStyle/>
            <a:p>
              <a:pPr>
                <a:defRPr/>
              </a:pPr>
              <a:r>
                <a:rPr lang="en-US" altLang="en-US" sz="979" b="1" dirty="0">
                  <a:latin typeface="맑은 고딕" panose="020B0503020000020004" pitchFamily="50" charset="-127"/>
                  <a:ea typeface="맑은 고딕" panose="020B0503020000020004" pitchFamily="50" charset="-127"/>
                </a:rPr>
                <a:t>Case Study on the Determination of Responsible Managing Officers (Aricell Fire Accident)</a:t>
              </a:r>
              <a:endParaRPr lang="ko-KR" altLang="en-US" sz="1400" b="1">
                <a:latin typeface="맑은 고딕" panose="020B0503020000020004" pitchFamily="50" charset="-127"/>
                <a:ea typeface="맑은 고딕" panose="020B0503020000020004" pitchFamily="50" charset="-127"/>
              </a:endParaRPr>
            </a:p>
          </p:txBody>
        </p:sp>
        <p:sp>
          <p:nvSpPr>
            <p:cNvPr id="18" name="Rectangle 13">
              <a:extLst>
                <a:ext uri="{FF2B5EF4-FFF2-40B4-BE49-F238E27FC236}">
                  <a16:creationId xmlns:a16="http://schemas.microsoft.com/office/drawing/2014/main" id="{18B56F61-82DA-4E06-BB52-A28C72DA31A4}"/>
                </a:ext>
              </a:extLst>
            </p:cNvPr>
            <p:cNvSpPr>
              <a:spLocks noChangeArrowheads="1"/>
            </p:cNvSpPr>
            <p:nvPr/>
          </p:nvSpPr>
          <p:spPr bwMode="auto">
            <a:xfrm>
              <a:off x="243679" y="876513"/>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2</a:t>
              </a:r>
            </a:p>
          </p:txBody>
        </p:sp>
      </p:grpSp>
      <p:sp>
        <p:nvSpPr>
          <p:cNvPr id="5" name="직사각형 4">
            <a:extLst>
              <a:ext uri="{FF2B5EF4-FFF2-40B4-BE49-F238E27FC236}">
                <a16:creationId xmlns:a16="http://schemas.microsoft.com/office/drawing/2014/main" id="{B93AB8C6-0459-4E76-B43F-5AEE576D15F5}"/>
              </a:ext>
            </a:extLst>
          </p:cNvPr>
          <p:cNvSpPr/>
          <p:nvPr/>
        </p:nvSpPr>
        <p:spPr>
          <a:xfrm>
            <a:off x="776536" y="2595988"/>
            <a:ext cx="8784976" cy="3859518"/>
          </a:xfrm>
          <a:prstGeom prst="rect">
            <a:avLst/>
          </a:prstGeom>
          <a:ln>
            <a:solidFill>
              <a:schemeClr val="tx1"/>
            </a:solidFill>
          </a:ln>
        </p:spPr>
        <p:txBody>
          <a:bodyPr wrap="square">
            <a:spAutoFit/>
          </a:bodyPr>
          <a:lstStyle/>
          <a:p>
            <a:pPr>
              <a:lnSpc>
                <a:spcPct val="120000"/>
              </a:lnSpc>
            </a:pPr>
            <a:r>
              <a:rPr lang="en-US" altLang="ko-KR" sz="840" b="1" dirty="0">
                <a:latin typeface="맑은 고딕" panose="020B0503020000020004" pitchFamily="50" charset="-127"/>
                <a:ea typeface="맑은 고딕" panose="020B0503020000020004" pitchFamily="50" charset="-127"/>
              </a:rPr>
              <a:t>[Suwon District Court Case No. 2024Gohap833 Judgment] </a:t>
            </a:r>
            <a:br/>
            <a:endParaRPr lang="en-US" altLang="ko-KR" sz="1200" b="1">
              <a:latin typeface="맑은 고딕" panose="020B0503020000020004" pitchFamily="50" charset="-127"/>
              <a:ea typeface="맑은 고딕" panose="020B0503020000020004" pitchFamily="50" charset="-127"/>
            </a:endParaRPr>
          </a:p>
          <a:p>
            <a:pPr>
              <a:lnSpc>
                <a:spcPct val="120000"/>
              </a:lnSpc>
            </a:pPr>
            <a:r>
              <a:rPr lang="en-US" altLang="en-US" sz="840" dirty="0">
                <a:latin typeface="맑은 고딕" panose="020B0503020000020004" pitchFamily="50" charset="-127"/>
                <a:ea typeface="맑은 고딕" panose="020B0503020000020004" pitchFamily="50" charset="-127"/>
              </a:rPr>
              <a:t> </a:t>
            </a:r>
            <a:r>
              <a:rPr lang="en-US" altLang="en-US" sz="840" b="1" dirty="0">
                <a:solidFill>
                  <a:srgbClr val="0000FF"/>
                </a:solidFill>
                <a:latin typeface="맑은 고딕" panose="020B0503020000020004" pitchFamily="50" charset="-127"/>
                <a:ea typeface="맑은 고딕" panose="020B0503020000020004" pitchFamily="50" charset="-127"/>
              </a:rPr>
              <a:t>Before the enactment of the SAP Act</a:t>
            </a:r>
            <a:r>
              <a:rPr lang="en-US" altLang="en-US" sz="840" dirty="0">
                <a:latin typeface="맑은 고딕" panose="020B0503020000020004" pitchFamily="50" charset="-127"/>
                <a:ea typeface="맑은 고딕" panose="020B0503020000020004" pitchFamily="50" charset="-127"/>
              </a:rPr>
              <a:t>, representative directors of corporations were not considered business owners subject to duties under the Occupational Safety and Health Act, and although they could potentially be actors through the reverse application of joint penalty provisions, punishments were primarily imposed on </a:t>
            </a:r>
            <a:r>
              <a:rPr lang="en-US" altLang="en-US" sz="840" b="1" dirty="0">
                <a:solidFill>
                  <a:srgbClr val="0000FF"/>
                </a:solidFill>
                <a:latin typeface="맑은 고딕" panose="020B0503020000020004" pitchFamily="50" charset="-127"/>
                <a:ea typeface="맑은 고딕" panose="020B0503020000020004" pitchFamily="50" charset="-127"/>
              </a:rPr>
              <a:t>on-site</a:t>
            </a:r>
            <a:r>
              <a:rPr lang="en-US" altLang="en-US" sz="840" dirty="0">
                <a:solidFill>
                  <a:srgbClr val="0000FF"/>
                </a:solidFill>
                <a:latin typeface="맑은 고딕" panose="020B0503020000020004" pitchFamily="50" charset="-127"/>
                <a:ea typeface="맑은 고딕" panose="020B0503020000020004" pitchFamily="50" charset="-127"/>
              </a:rPr>
              <a:t> safety and health </a:t>
            </a:r>
            <a:r>
              <a:rPr lang="en-US" altLang="en-US" sz="840" b="1" dirty="0">
                <a:solidFill>
                  <a:srgbClr val="0000FF"/>
                </a:solidFill>
                <a:latin typeface="맑은 고딕" panose="020B0503020000020004" pitchFamily="50" charset="-127"/>
                <a:ea typeface="맑은 고딕" panose="020B0503020000020004" pitchFamily="50" charset="-127"/>
              </a:rPr>
              <a:t>management officers</a:t>
            </a:r>
            <a:r>
              <a:rPr lang="en-US" altLang="en-US" sz="840" dirty="0">
                <a:solidFill>
                  <a:srgbClr val="0000FF"/>
                </a:solidFill>
                <a:latin typeface="맑은 고딕" panose="020B0503020000020004" pitchFamily="50" charset="-127"/>
                <a:ea typeface="맑은 고딕" panose="020B0503020000020004" pitchFamily="50" charset="-127"/>
              </a:rPr>
              <a:t> such as site managers or plant managers, because representative directors were deemed to have no specific/direct duties or no awareness of the failure to perform </a:t>
            </a:r>
            <a:r>
              <a:rPr lang="en-US" altLang="en-US" sz="840" b="1" u="sng" dirty="0">
                <a:solidFill>
                  <a:srgbClr val="0000FF"/>
                </a:solidFill>
                <a:latin typeface="맑은 고딕" panose="020B0503020000020004" pitchFamily="50" charset="-127"/>
                <a:ea typeface="맑은 고딕" panose="020B0503020000020004" pitchFamily="50" charset="-127"/>
              </a:rPr>
              <a:t>safety and health measure duties under the Occupational Safety and Health Act</a:t>
            </a:r>
            <a:r>
              <a:rPr lang="en-US" altLang="en-US" sz="840" dirty="0">
                <a:solidFill>
                  <a:srgbClr val="0000FF"/>
                </a:solidFill>
                <a:latin typeface="맑은 고딕" panose="020B0503020000020004" pitchFamily="50" charset="-127"/>
                <a:ea typeface="맑은 고딕" panose="020B0503020000020004" pitchFamily="50" charset="-127"/>
              </a:rPr>
              <a:t>.</a:t>
            </a:r>
          </a:p>
          <a:p>
            <a:pPr>
              <a:lnSpc>
                <a:spcPct val="120000"/>
              </a:lnSpc>
            </a:pPr>
            <a:endParaRPr lang="en-US" altLang="ko-KR" sz="1200">
              <a:latin typeface="맑은 고딕" panose="020B0503020000020004" pitchFamily="50" charset="-127"/>
              <a:ea typeface="맑은 고딕" panose="020B0503020000020004" pitchFamily="50" charset="-127"/>
            </a:endParaRPr>
          </a:p>
          <a:p>
            <a:r>
              <a:rPr lang="en-US" altLang="en-US" sz="840" dirty="0">
                <a:latin typeface="맑은 고딕" panose="020B0503020000020004" pitchFamily="50" charset="-127"/>
                <a:ea typeface="맑은 고딕" panose="020B0503020000020004" pitchFamily="50" charset="-127"/>
              </a:rPr>
              <a:t>  Accordingly, the </a:t>
            </a:r>
            <a:r>
              <a:rPr lang="en-US" altLang="en-US" sz="840" b="1" u="sng" dirty="0">
                <a:solidFill>
                  <a:srgbClr val="0000FF"/>
                </a:solidFill>
                <a:latin typeface="맑은 고딕" panose="020B0503020000020004" pitchFamily="50" charset="-127"/>
                <a:ea typeface="맑은 고딕" panose="020B0503020000020004" pitchFamily="50" charset="-127"/>
              </a:rPr>
              <a:t>SAP Act</a:t>
            </a:r>
            <a:r>
              <a:rPr lang="en-US" altLang="en-US" sz="840" b="1" u="sng" dirty="0">
                <a:latin typeface="맑은 고딕" panose="020B0503020000020004" pitchFamily="50" charset="-127"/>
                <a:ea typeface="맑은 고딕" panose="020B0503020000020004" pitchFamily="50" charset="-127"/>
              </a:rPr>
              <a:t> clearly</a:t>
            </a:r>
            <a:r>
              <a:rPr lang="en-US" altLang="en-US" sz="840" u="sng" dirty="0">
                <a:latin typeface="맑은 고딕" panose="020B0503020000020004" pitchFamily="50" charset="-127"/>
                <a:ea typeface="맑은 고딕" panose="020B0503020000020004" pitchFamily="50" charset="-127"/>
              </a:rPr>
              <a:t> stipulates that responsible managing officers, etc., bear the duty to secure safety and health, making the </a:t>
            </a:r>
            <a:r>
              <a:rPr lang="en-US" altLang="en-US" sz="840" b="1" u="sng" dirty="0">
                <a:solidFill>
                  <a:srgbClr val="0000FF"/>
                </a:solidFill>
                <a:latin typeface="맑은 고딕" panose="020B0503020000020004" pitchFamily="50" charset="-127"/>
                <a:ea typeface="맑은 고딕" panose="020B0503020000020004" pitchFamily="50" charset="-127"/>
              </a:rPr>
              <a:t>representative director of a corporation</a:t>
            </a:r>
            <a:r>
              <a:rPr lang="en-US" altLang="en-US" sz="840" u="sng" dirty="0">
                <a:latin typeface="맑은 고딕" panose="020B0503020000020004" pitchFamily="50" charset="-127"/>
                <a:ea typeface="맑은 고딕" panose="020B0503020000020004" pitchFamily="50" charset="-127"/>
              </a:rPr>
              <a:t> subject to the crime of violating the SAP Act.</a:t>
            </a:r>
            <a:r>
              <a:rPr lang="en-US" altLang="en-US" sz="840" dirty="0">
                <a:latin typeface="맑은 고딕" panose="020B0503020000020004" pitchFamily="50" charset="-127"/>
                <a:ea typeface="맑은 고딕" panose="020B0503020000020004" pitchFamily="50" charset="-127"/>
              </a:rPr>
              <a:t> Therefore, a representative director should, in principle, be considered a responsible managing officer, etc., as the general supervisor of business affairs who bears the duty of commission under the SAP Act. Even if some management authority is granted to a third party rather than the representative director based on the substance of business operations, </a:t>
            </a:r>
            <a:r>
              <a:rPr lang="en-US" altLang="en-US" sz="840" u="sng" dirty="0">
                <a:latin typeface="맑은 고딕" panose="020B0503020000020004" pitchFamily="50" charset="-127"/>
                <a:ea typeface="맑은 고딕" panose="020B0503020000020004" pitchFamily="50" charset="-127"/>
              </a:rPr>
              <a:t>one </a:t>
            </a:r>
            <a:r>
              <a:rPr lang="en-US" altLang="en-US" sz="840" b="1" u="sng" dirty="0">
                <a:solidFill>
                  <a:srgbClr val="0000FF"/>
                </a:solidFill>
                <a:latin typeface="맑은 고딕" panose="020B0503020000020004" pitchFamily="50" charset="-127"/>
                <a:ea typeface="맑은 고딕" panose="020B0503020000020004" pitchFamily="50" charset="-127"/>
              </a:rPr>
              <a:t>must be</a:t>
            </a:r>
            <a:r>
              <a:rPr lang="en-US" altLang="en-US" sz="840" u="sng" dirty="0">
                <a:solidFill>
                  <a:srgbClr val="0000FF"/>
                </a:solidFill>
                <a:latin typeface="맑은 고딕" panose="020B0503020000020004" pitchFamily="50" charset="-127"/>
                <a:ea typeface="맑은 고딕" panose="020B0503020000020004" pitchFamily="50" charset="-127"/>
              </a:rPr>
              <a:t> cautious</a:t>
            </a:r>
            <a:r>
              <a:rPr lang="en-US" altLang="en-US" sz="840" u="sng" dirty="0">
                <a:latin typeface="맑은 고딕" panose="020B0503020000020004" pitchFamily="50" charset="-127"/>
                <a:ea typeface="맑은 고딕" panose="020B0503020000020004" pitchFamily="50" charset="-127"/>
              </a:rPr>
              <a:t> when </a:t>
            </a:r>
            <a:r>
              <a:rPr lang="en-US" altLang="en-US" sz="840" b="1" u="sng" dirty="0">
                <a:solidFill>
                  <a:srgbClr val="0000FF"/>
                </a:solidFill>
                <a:latin typeface="맑은 고딕" panose="020B0503020000020004" pitchFamily="50" charset="-127"/>
                <a:ea typeface="맑은 고딕" panose="020B0503020000020004" pitchFamily="50" charset="-127"/>
              </a:rPr>
              <a:t>recognizing a third </a:t>
            </a:r>
            <a:r>
              <a:rPr lang="en-US" altLang="en-US" sz="840" b="1" u="sng" dirty="0">
                <a:solidFill>
                  <a:srgbClr val="0000FF"/>
                </a:solidFill>
                <a:latin typeface="맑은 고딕" panose="020B0503020000020004" pitchFamily="50" charset="-127"/>
                <a:ea typeface="맑은 고딕" panose="020B0503020000020004" pitchFamily="50" charset="-127"/>
              </a:rPr>
              <a:t>party</a:t>
            </a:r>
            <a:r>
              <a:rPr lang="en-US" altLang="en-US" sz="840" b="1" u="sng" dirty="0">
                <a:solidFill>
                  <a:srgbClr val="0000FF"/>
                </a:solidFill>
                <a:latin typeface="맑은 고딕" panose="020B0503020000020004" pitchFamily="50" charset="-127"/>
                <a:ea typeface="맑은 고딕" panose="020B0503020000020004" pitchFamily="50" charset="-127"/>
              </a:rPr>
              <a:t> as a responsible managing officer, etc.</a:t>
            </a:r>
            <a:r>
              <a:rPr lang="en-US" altLang="en-US" sz="840" u="sng" dirty="0">
                <a:latin typeface="맑은 고딕" panose="020B0503020000020004" pitchFamily="50" charset="-127"/>
                <a:ea typeface="맑은 고딕" panose="020B0503020000020004" pitchFamily="50" charset="-127"/>
              </a:rPr>
              <a:t> rather than the representative director in light of the aforementioned legislative intent.</a:t>
            </a:r>
          </a:p>
          <a:p>
            <a:endParaRPr lang="en-US" altLang="ko-KR" sz="1200">
              <a:latin typeface="맑은 고딕" panose="020B0503020000020004" pitchFamily="50" charset="-127"/>
              <a:ea typeface="맑은 고딕" panose="020B0503020000020004" pitchFamily="50" charset="-127"/>
            </a:endParaRPr>
          </a:p>
          <a:p>
            <a:r>
              <a:rPr lang="en-US" altLang="en-US" sz="840" dirty="0">
                <a:latin typeface="맑은 고딕" panose="020B0503020000020004" pitchFamily="50" charset="-127"/>
                <a:ea typeface="맑은 고딕" panose="020B0503020000020004" pitchFamily="50" charset="-127"/>
              </a:rPr>
              <a:t>  Otherwise, a representative director could easily create an appearance or form to evade their duty of commission under the SAP Act by using a third party, which would result in the representative director abandoning their duty to secure safety and health for workers. Thus, it is reasonable to deem a third party rather than the representative director as the responsible managing officer, etc., as the general supervisor of business affairs </a:t>
            </a:r>
            <a:r>
              <a:rPr lang="en-US" altLang="en-US" sz="840" b="1" u="sng" dirty="0">
                <a:solidFill>
                  <a:srgbClr val="0000FF"/>
                </a:solidFill>
                <a:latin typeface="맑은 고딕" panose="020B0503020000020004" pitchFamily="50" charset="-127"/>
                <a:ea typeface="맑은 고딕" panose="020B0503020000020004" pitchFamily="50" charset="-127"/>
              </a:rPr>
              <a:t>only when special circumstances exist, </a:t>
            </a:r>
            <a:r>
              <a:rPr lang="en-US" altLang="en-US" sz="840" u="sng" dirty="0">
                <a:latin typeface="맑은 고딕" panose="020B0503020000020004" pitchFamily="50" charset="-127"/>
                <a:ea typeface="맑은 고딕" panose="020B0503020000020004" pitchFamily="50" charset="-127"/>
              </a:rPr>
              <a:t>such as when the representative director exists only formally and not only exercises no actual management authority but is also not in a position to exercise such authority in reality, making it unreasonable to impose the duty of commission under the SAP Act on a </a:t>
            </a:r>
            <a:r>
              <a:rPr lang="en-US" altLang="en-US" sz="840" u="sng" dirty="0">
                <a:solidFill>
                  <a:srgbClr val="0000FF"/>
                </a:solidFill>
                <a:latin typeface="맑은 고딕" panose="020B0503020000020004" pitchFamily="50" charset="-127"/>
                <a:ea typeface="맑은 고딕" panose="020B0503020000020004" pitchFamily="50" charset="-127"/>
              </a:rPr>
              <a:t>nominal representative director</a:t>
            </a:r>
            <a:r>
              <a:rPr lang="en-US" altLang="en-US" sz="840" u="sng" dirty="0">
                <a:latin typeface="맑은 고딕" panose="020B0503020000020004" pitchFamily="50" charset="-127"/>
                <a:ea typeface="맑은 고딕" panose="020B0503020000020004" pitchFamily="50" charset="-127"/>
              </a:rPr>
              <a:t>.</a:t>
            </a:r>
            <a:endParaRPr lang="ko-KR" altLang="en-US" sz="1400" u="sng">
              <a:latin typeface="맑은 고딕" panose="020B0503020000020004" pitchFamily="50" charset="-127"/>
              <a:ea typeface="맑은 고딕" panose="020B0503020000020004" pitchFamily="50" charset="-127"/>
            </a:endParaRPr>
          </a:p>
        </p:txBody>
      </p:sp>
      <p:sp>
        <p:nvSpPr>
          <p:cNvPr id="7" name="직사각형 6">
            <a:extLst>
              <a:ext uri="{FF2B5EF4-FFF2-40B4-BE49-F238E27FC236}">
                <a16:creationId xmlns:a16="http://schemas.microsoft.com/office/drawing/2014/main" id="{FC20067F-FC63-4902-A16A-FFF2F10E6BC7}"/>
              </a:ext>
            </a:extLst>
          </p:cNvPr>
          <p:cNvSpPr/>
          <p:nvPr/>
        </p:nvSpPr>
        <p:spPr>
          <a:xfrm>
            <a:off x="432306" y="1157419"/>
            <a:ext cx="9586520" cy="1204882"/>
          </a:xfrm>
          <a:prstGeom prst="rect">
            <a:avLst/>
          </a:prstGeom>
        </p:spPr>
        <p:txBody>
          <a:bodyPr wrap="square">
            <a:spAutoFit/>
          </a:bodyPr>
          <a:lstStyle/>
          <a:p>
            <a:pPr marL="180000" indent="-180000">
              <a:lnSpc>
                <a:spcPct val="150000"/>
              </a:lnSpc>
              <a:buFont typeface="Wingdings" panose="05000000000000000000" pitchFamily="2" charset="2"/>
              <a:buChar char="§"/>
            </a:pPr>
            <a:r>
              <a:rPr lang="en-US" altLang="ko-KR" sz="979" spc="0" dirty="0">
                <a:latin typeface="맑은 고딕" panose="020B0503020000020004" pitchFamily="50" charset="-127"/>
                <a:ea typeface="맑은 고딕" panose="020B0503020000020004" pitchFamily="50" charset="-127"/>
              </a:rPr>
              <a:t>23 fatalities in the 2024 Aricell plant fire accident. The </a:t>
            </a:r>
            <a:r>
              <a:rPr lang="en-US" altLang="ko-KR" sz="979" spc="0" b="1" dirty="0">
                <a:latin typeface="맑은 고딕" panose="020B0503020000020004" pitchFamily="50" charset="-127"/>
                <a:ea typeface="맑은 고딕" panose="020B0503020000020004" pitchFamily="50" charset="-127"/>
              </a:rPr>
              <a:t>CEO</a:t>
            </a:r>
            <a:r>
              <a:rPr lang="en-US" altLang="ko-KR" sz="979" spc="0" dirty="0">
                <a:latin typeface="맑은 고딕" panose="020B0503020000020004" pitchFamily="50" charset="-127"/>
                <a:ea typeface="맑은 고딕" panose="020B0503020000020004" pitchFamily="50" charset="-127"/>
              </a:rPr>
              <a:t> </a:t>
            </a:r>
            <a:r>
              <a:rPr lang="en-US" altLang="ko-KR" sz="979" spc="0" b="1" dirty="0">
                <a:latin typeface="맑은 고딕" panose="020B0503020000020004" pitchFamily="50" charset="-127"/>
                <a:ea typeface="맑은 고딕" panose="020B0503020000020004" pitchFamily="50" charset="-127"/>
              </a:rPr>
              <a:t>claimed he was not the responsible managing officer</a:t>
            </a:r>
            <a:r>
              <a:rPr lang="en-US" altLang="ko-KR" sz="979" spc="0" dirty="0">
                <a:latin typeface="맑은 고딕" panose="020B0503020000020004" pitchFamily="50" charset="-127"/>
                <a:ea typeface="맑은 고딕" panose="020B0503020000020004" pitchFamily="50" charset="-127"/>
              </a:rPr>
              <a:t> as his son (division head) held actual authority.</a:t>
            </a:r>
            <a:br/>
            <a:br/>
            <a:endParaRPr lang="en-US" altLang="ko-KR" sz="300" spc="-150">
              <a:latin typeface="맑은 고딕" panose="020B0503020000020004" pitchFamily="50" charset="-127"/>
              <a:ea typeface="맑은 고딕" panose="020B0503020000020004" pitchFamily="50" charset="-127"/>
            </a:endParaRPr>
          </a:p>
          <a:p>
            <a:pPr marL="180000" indent="-180000">
              <a:lnSpc>
                <a:spcPct val="150000"/>
              </a:lnSpc>
              <a:buFont typeface="Wingdings" panose="05000000000000000000" pitchFamily="2" charset="2"/>
              <a:buChar char="§"/>
            </a:pPr>
            <a:r>
              <a:rPr lang="en-US" altLang="en-US" sz="979" spc="0" dirty="0">
                <a:latin typeface="맑은 고딕" panose="020B0503020000020004" pitchFamily="50" charset="-127"/>
                <a:ea typeface="맑은 고딕" panose="020B0503020000020004" pitchFamily="50" charset="-127"/>
              </a:rPr>
              <a:t>However, the court regarded the CEO as the responsible managing officer based on the following: </a:t>
            </a:r>
            <a:br/>
            <a:r>
              <a:rPr lang="en-US" altLang="en-US" sz="979" spc="0" dirty="0">
                <a:latin typeface="맑은 고딕" panose="020B0503020000020004" pitchFamily="50" charset="-127"/>
                <a:ea typeface="맑은 고딕" panose="020B0503020000020004" pitchFamily="50" charset="-127"/>
              </a:rPr>
              <a:t>①Recognition of status as CEO, ②Receipt of detailed reports on overall management, ③Exercise of supervision over the division head when necessary, ③Final decision-making authority and direction in all areas, etc.</a:t>
            </a:r>
            <a:endParaRPr lang="en-US" altLang="ko-KR" sz="1200" spc="-15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03467755"/>
      </p:ext>
    </p:extLst>
  </p:cSld>
  <p:clrMapOvr>
    <a:masterClrMapping/>
  </p:clrMapOvr>
</p:sld>
</file>

<file path=ppt/theme/theme1.xml><?xml version="1.0" encoding="utf-8"?>
<a:theme xmlns:a="http://schemas.openxmlformats.org/drawingml/2006/main" name="8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7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0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7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fa사업현황(지도)</Template>
  <TotalTime>80352</TotalTime>
  <Words>401</Words>
  <Application>Microsoft Office PowerPoint</Application>
  <PresentationFormat>A4 용지(210x297mm)</PresentationFormat>
  <Paragraphs>24</Paragraphs>
  <Slides>2</Slides>
  <Notes>0</Notes>
  <HiddenSlides>0</HiddenSlides>
  <MMClips>0</MMClips>
  <ScaleCrop>false</ScaleCrop>
  <HeadingPairs>
    <vt:vector size="6" baseType="variant">
      <vt:variant>
        <vt:lpstr>사용한 글꼴</vt:lpstr>
      </vt:variant>
      <vt:variant>
        <vt:i4>6</vt:i4>
      </vt:variant>
      <vt:variant>
        <vt:lpstr>테마</vt:lpstr>
      </vt:variant>
      <vt:variant>
        <vt:i4>10</vt:i4>
      </vt:variant>
      <vt:variant>
        <vt:lpstr>슬라이드 제목</vt:lpstr>
      </vt:variant>
      <vt:variant>
        <vt:i4>2</vt:i4>
      </vt:variant>
    </vt:vector>
  </HeadingPairs>
  <TitlesOfParts>
    <vt:vector size="18" baseType="lpstr">
      <vt:lpstr>HY헤드라인M</vt:lpstr>
      <vt:lpstr>굴림</vt:lpstr>
      <vt:lpstr>맑은 고딕</vt:lpstr>
      <vt:lpstr>Arial</vt:lpstr>
      <vt:lpstr>Times New Roman</vt:lpstr>
      <vt:lpstr>Wingdings</vt:lpstr>
      <vt:lpstr>8_realpt-052</vt:lpstr>
      <vt:lpstr>7_01061005</vt:lpstr>
      <vt:lpstr>9_realpt-052</vt:lpstr>
      <vt:lpstr>1_Office 테마</vt:lpstr>
      <vt:lpstr>10_realpt-052</vt:lpstr>
      <vt:lpstr>8_01061005</vt:lpstr>
      <vt:lpstr>5_Office 테마</vt:lpstr>
      <vt:lpstr>6_Office 테마</vt:lpstr>
      <vt:lpstr>2_Office 테마</vt:lpstr>
      <vt:lpstr>7_Office 테마</vt:lpstr>
      <vt:lpstr>PowerPoint 프레젠테이션</vt:lpstr>
      <vt:lpstr>PowerPoint 프레젠테이션</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한전 동향</dc:title>
  <dc:creator>SEC</dc:creator>
  <cp:lastModifiedBy>하태준</cp:lastModifiedBy>
  <cp:revision>6681</cp:revision>
  <cp:lastPrinted>2020-08-31T12:17:42Z</cp:lastPrinted>
  <dcterms:created xsi:type="dcterms:W3CDTF">2011-03-16T00:11:19Z</dcterms:created>
  <dcterms:modified xsi:type="dcterms:W3CDTF">2026-01-31T03:58:48Z</dcterms:modified>
</cp:coreProperties>
</file>