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8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9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theme/theme10.xml" ContentType="application/vnd.openxmlformats-officedocument.theme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theme/theme11.xml" ContentType="application/vnd.openxmlformats-officedocument.theme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12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13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14.xml" ContentType="application/vnd.openxmlformats-officedocument.theme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theme/theme15.xml" ContentType="application/vnd.openxmlformats-officedocument.theme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theme/theme16.xml" ContentType="application/vnd.openxmlformats-officedocument.theme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theme/theme17.xml" ContentType="application/vnd.openxmlformats-officedocument.theme+xml"/>
  <Override PartName="/ppt/tags/tag2.xml" ContentType="application/vnd.openxmlformats-officedocument.presentationml.tags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6" r:id="rId1"/>
    <p:sldMasterId id="2147483834" r:id="rId2"/>
    <p:sldMasterId id="2147483853" r:id="rId3"/>
    <p:sldMasterId id="2147483865" r:id="rId4"/>
    <p:sldMasterId id="2147483894" r:id="rId5"/>
    <p:sldMasterId id="2147483911" r:id="rId6"/>
    <p:sldMasterId id="2147483953" r:id="rId7"/>
    <p:sldMasterId id="2147483957" r:id="rId8"/>
    <p:sldMasterId id="2147484035" r:id="rId9"/>
    <p:sldMasterId id="2147484039" r:id="rId10"/>
    <p:sldMasterId id="2147484042" r:id="rId11"/>
    <p:sldMasterId id="2147484057" r:id="rId12"/>
    <p:sldMasterId id="2147484081" r:id="rId13"/>
    <p:sldMasterId id="2147484088" r:id="rId14"/>
    <p:sldMasterId id="2147484093" r:id="rId15"/>
    <p:sldMasterId id="2147484098" r:id="rId16"/>
    <p:sldMasterId id="2147484103" r:id="rId17"/>
    <p:sldMasterId id="2147484134" r:id="rId18"/>
  </p:sldMasterIdLst>
  <p:notesMasterIdLst>
    <p:notesMasterId r:id="rId22"/>
  </p:notesMasterIdLst>
  <p:sldIdLst>
    <p:sldId id="902" r:id="rId19"/>
    <p:sldId id="865" r:id="rId20"/>
    <p:sldId id="886" r:id="rId21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9649F88-9C1E-45AB-B903-E47D4A1AC345}">
          <p14:sldIdLst>
            <p14:sldId id="902"/>
            <p14:sldId id="865"/>
            <p14:sldId id="886"/>
          </p14:sldIdLst>
        </p14:section>
        <p14:section name="Appendix." id="{C0F51388-9D5E-4178-B282-58484EAC28D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0000FF"/>
    <a:srgbClr val="FFFFCC"/>
    <a:srgbClr val="00FF00"/>
    <a:srgbClr val="333F50"/>
    <a:srgbClr val="5B9BD5"/>
    <a:srgbClr val="EEF2F7"/>
    <a:srgbClr val="CCCCFF"/>
    <a:srgbClr val="CC99FF"/>
    <a:srgbClr val="FDE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5809" autoAdjust="0"/>
  </p:normalViewPr>
  <p:slideViewPr>
    <p:cSldViewPr snapToGrid="0">
      <p:cViewPr varScale="1">
        <p:scale>
          <a:sx n="84" d="100"/>
          <a:sy n="84" d="100"/>
        </p:scale>
        <p:origin x="1032" y="30"/>
      </p:cViewPr>
      <p:guideLst>
        <p:guide orient="horz" pos="935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95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135A8-7404-4915-BE9A-F6F36AD30AA3}" type="datetimeFigureOut">
              <a:rPr lang="ko-KR" altLang="en-US" smtClean="0"/>
              <a:t>2026-01-25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3324A-3574-4568-A04F-95220B57438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907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83324A-3574-4568-A04F-95220B57438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285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83324A-3574-4568-A04F-95220B57438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613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7.xml"/><Relationship Id="rId1" Type="http://schemas.openxmlformats.org/officeDocument/2006/relationships/tags" Target="../tags/tag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 bwMode="auto">
          <a:xfrm>
            <a:off x="852387" y="2259819"/>
            <a:ext cx="8205069" cy="0"/>
          </a:xfrm>
          <a:prstGeom prst="line">
            <a:avLst/>
          </a:prstGeom>
          <a:solidFill>
            <a:srgbClr val="4F81BD"/>
          </a:solidFill>
          <a:ln w="3175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 userDrawn="1"/>
        </p:nvSpPr>
        <p:spPr>
          <a:xfrm>
            <a:off x="2777340" y="2925362"/>
            <a:ext cx="4259112" cy="2870000"/>
          </a:xfrm>
          <a:prstGeom prst="rect">
            <a:avLst/>
          </a:prstGeom>
          <a:noFill/>
          <a:ln w="12700" cmpd="dbl">
            <a:solidFill>
              <a:sysClr val="windowText" lastClr="000000">
                <a:lumMod val="50000"/>
                <a:lumOff val="50000"/>
              </a:sysClr>
            </a:solidFill>
          </a:ln>
        </p:spPr>
        <p:txBody>
          <a:bodyPr wrap="square" lIns="91423" tIns="45712" rIns="91423" bIns="45712" rtlCol="0" anchor="ctr">
            <a:noAutofit/>
          </a:bodyPr>
          <a:lstStyle/>
          <a:p>
            <a:pPr marL="0" marR="0" lvl="0" indent="0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185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28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665756" y="2636912"/>
            <a:ext cx="857449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716587" y="1948484"/>
            <a:ext cx="5017720" cy="50129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kumimoji="1" lang="ko-KR" altLang="en-US" sz="2953" b="1" kern="1200" baseline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lvl="0" algn="l" rtl="0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[</a:t>
            </a:r>
            <a:r>
              <a:rPr lang="ko-KR" altLang="en-US" dirty="0"/>
              <a:t>사업부 이름</a:t>
            </a:r>
            <a:r>
              <a:rPr lang="en-US" altLang="ko-KR" dirty="0"/>
              <a:t>] </a:t>
            </a:r>
            <a:r>
              <a:rPr lang="ko-KR" altLang="en-US" dirty="0"/>
              <a:t>월별 실적보고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 hasCustomPrompt="1"/>
          </p:nvPr>
        </p:nvSpPr>
        <p:spPr>
          <a:xfrm>
            <a:off x="6915431" y="2767887"/>
            <a:ext cx="2410468" cy="29694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477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YY.MM.DD. or YYYY.MM.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 hasCustomPrompt="1"/>
          </p:nvPr>
        </p:nvSpPr>
        <p:spPr>
          <a:xfrm>
            <a:off x="716589" y="3173484"/>
            <a:ext cx="918841" cy="202529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>
            <a:lvl1pPr marL="244709" indent="-244709">
              <a:spcBef>
                <a:spcPts val="0"/>
              </a:spcBef>
              <a:spcAft>
                <a:spcPts val="1107"/>
              </a:spcAft>
              <a:buAutoNum type="arabicPeriod"/>
              <a:defRPr sz="1477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목차</a:t>
            </a:r>
            <a:r>
              <a:rPr lang="en-US" altLang="ko-KR" dirty="0"/>
              <a:t>1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2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3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4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5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5" hasCustomPrompt="1"/>
          </p:nvPr>
        </p:nvSpPr>
        <p:spPr>
          <a:xfrm>
            <a:off x="7701735" y="6089230"/>
            <a:ext cx="1624163" cy="347980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46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[</a:t>
            </a:r>
            <a:r>
              <a:rPr lang="ko-KR" altLang="en-US" dirty="0"/>
              <a:t>사업부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15" name="Picture 2" descr="C:\Users\msk\Desktop\body_swoop.png"/>
          <p:cNvPicPr>
            <a:picLocks noChangeAspect="1" noChangeArrowheads="1"/>
          </p:cNvPicPr>
          <p:nvPr userDrawn="1"/>
        </p:nvPicPr>
        <p:blipFill>
          <a:blip r:embed="rId2" cstate="print">
            <a:lum/>
          </a:blip>
          <a:srcRect/>
          <a:stretch>
            <a:fillRect/>
          </a:stretch>
        </p:blipFill>
        <p:spPr bwMode="auto">
          <a:xfrm>
            <a:off x="3989" y="-220"/>
            <a:ext cx="9902318" cy="1028700"/>
          </a:xfrm>
          <a:prstGeom prst="rect">
            <a:avLst/>
          </a:prstGeom>
          <a:noFill/>
        </p:spPr>
      </p:pic>
      <p:sp>
        <p:nvSpPr>
          <p:cNvPr id="17" name="직사각형 16"/>
          <p:cNvSpPr/>
          <p:nvPr userDrawn="1"/>
        </p:nvSpPr>
        <p:spPr>
          <a:xfrm>
            <a:off x="-1" y="6597352"/>
            <a:ext cx="9906308" cy="2606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6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778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71D78-8768-4547-A6DB-AC251AABF9F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2026-01-25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102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846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407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76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17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07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740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919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994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26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977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204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793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236809" y="5301211"/>
            <a:ext cx="3136900" cy="365125"/>
          </a:xfr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806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2529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1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3074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4" y="1600206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6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2392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81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81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8188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4277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3742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4"/>
            <a:ext cx="553720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1" y="1435103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093299"/>
            <a:ext cx="3136900" cy="365125"/>
          </a:xfr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491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005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635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1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5" y="274641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0677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8947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3268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4279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638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8460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3381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0912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7670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821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7946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6467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3604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2478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8535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9070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4456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899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8570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1325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7596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07884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7124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g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Slag 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30314953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FA 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13354887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물류/고정비/인원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5" y="6515406"/>
            <a:ext cx="227288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물류</a:t>
            </a:r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/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고정비</a:t>
            </a:r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/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인원</a:t>
            </a:r>
          </a:p>
        </p:txBody>
      </p:sp>
    </p:spTree>
    <p:extLst>
      <p:ext uri="{BB962C8B-B14F-4D97-AF65-F5344CB8AC3E}">
        <p14:creationId xmlns:p14="http://schemas.microsoft.com/office/powerpoint/2010/main" val="4135867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4831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17 -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kern="0" dirty="0">
                <a:solidFill>
                  <a:prstClr val="white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kern="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06143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10316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499536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2517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6619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1219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9380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4767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363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4562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831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9852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3871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50443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8709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5974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0214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29369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93894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39633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26936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550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78093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22664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69099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g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Slag 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346020482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FA 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247737885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물류/고정비/인원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5" y="6515406"/>
            <a:ext cx="227288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물류</a:t>
            </a:r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/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고정비</a:t>
            </a:r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/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인원</a:t>
            </a:r>
          </a:p>
        </p:txBody>
      </p:sp>
    </p:spTree>
    <p:extLst>
      <p:ext uri="{BB962C8B-B14F-4D97-AF65-F5344CB8AC3E}">
        <p14:creationId xmlns:p14="http://schemas.microsoft.com/office/powerpoint/2010/main" val="35560602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14172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4"/>
          <p:cNvSpPr>
            <a:spLocks noChangeArrowheads="1"/>
          </p:cNvSpPr>
          <p:nvPr userDrawn="1"/>
        </p:nvSpPr>
        <p:spPr bwMode="auto">
          <a:xfrm>
            <a:off x="653951" y="982678"/>
            <a:ext cx="8411120" cy="1736981"/>
          </a:xfrm>
          <a:prstGeom prst="roundRect">
            <a:avLst>
              <a:gd name="adj" fmla="val 16667"/>
            </a:avLst>
          </a:prstGeom>
          <a:noFill/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ko-KR" altLang="en-US" sz="2800" b="1" dirty="0">
              <a:solidFill>
                <a:srgbClr val="002060"/>
              </a:solidFill>
            </a:endParaRPr>
          </a:p>
        </p:txBody>
      </p:sp>
      <p:sp>
        <p:nvSpPr>
          <p:cNvPr id="25" name="Rectangle 17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2072680" y="5795362"/>
            <a:ext cx="5668433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latinLnBrk="0"/>
            <a:endParaRPr kumimoji="1" lang="en-US" altLang="ko-KR" sz="2000" kern="0">
              <a:solidFill>
                <a:srgbClr val="0070C0"/>
              </a:solidFill>
              <a:cs typeface="Tahoma" pitchFamily="34" charset="0"/>
            </a:endParaRPr>
          </a:p>
        </p:txBody>
      </p:sp>
      <p:cxnSp>
        <p:nvCxnSpPr>
          <p:cNvPr id="27" name="직선 연결선 26"/>
          <p:cNvCxnSpPr/>
          <p:nvPr userDrawn="1"/>
        </p:nvCxnSpPr>
        <p:spPr bwMode="auto">
          <a:xfrm>
            <a:off x="852387" y="2259819"/>
            <a:ext cx="8205069" cy="0"/>
          </a:xfrm>
          <a:prstGeom prst="line">
            <a:avLst/>
          </a:prstGeom>
          <a:solidFill>
            <a:srgbClr val="4F81BD"/>
          </a:solidFill>
          <a:ln w="3175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8" name="그룹 27"/>
          <p:cNvGrpSpPr/>
          <p:nvPr userDrawn="1"/>
        </p:nvGrpSpPr>
        <p:grpSpPr>
          <a:xfrm>
            <a:off x="7944757" y="21754"/>
            <a:ext cx="1920454" cy="360041"/>
            <a:chOff x="7164488" y="113705"/>
            <a:chExt cx="1800000" cy="300437"/>
          </a:xfrm>
          <a:solidFill>
            <a:sysClr val="window" lastClr="FFFFFF"/>
          </a:solidFill>
        </p:grpSpPr>
        <p:sp>
          <p:nvSpPr>
            <p:cNvPr id="29" name="Rectangle 148"/>
            <p:cNvSpPr>
              <a:spLocks noChangeArrowheads="1"/>
            </p:cNvSpPr>
            <p:nvPr/>
          </p:nvSpPr>
          <p:spPr bwMode="auto">
            <a:xfrm>
              <a:off x="7164488" y="273845"/>
              <a:ext cx="1800000" cy="140297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  <a:defRPr/>
              </a:pPr>
              <a:r>
                <a:rPr lang="en-US" altLang="ko-KR" sz="1050" b="1" i="1" u="sng" dirty="0">
                  <a:solidFill>
                    <a:srgbClr val="FF0000"/>
                  </a:solidFill>
                  <a:latin typeface="나눔바른고딕" pitchFamily="50" charset="-127"/>
                  <a:ea typeface="나눔바른고딕" pitchFamily="50" charset="-127"/>
                </a:rPr>
                <a:t> VERY PRELIMINARY</a:t>
              </a:r>
            </a:p>
          </p:txBody>
        </p:sp>
        <p:grpSp>
          <p:nvGrpSpPr>
            <p:cNvPr id="30" name="그룹 29"/>
            <p:cNvGrpSpPr/>
            <p:nvPr/>
          </p:nvGrpSpPr>
          <p:grpSpPr>
            <a:xfrm>
              <a:off x="7164488" y="113705"/>
              <a:ext cx="1800000" cy="140297"/>
              <a:chOff x="7545613" y="165498"/>
              <a:chExt cx="1800000" cy="242094"/>
            </a:xfrm>
            <a:grpFill/>
          </p:grpSpPr>
          <p:sp>
            <p:nvSpPr>
              <p:cNvPr id="31" name="Rectangle 148"/>
              <p:cNvSpPr>
                <a:spLocks noChangeArrowheads="1"/>
              </p:cNvSpPr>
              <p:nvPr/>
            </p:nvSpPr>
            <p:spPr bwMode="auto">
              <a:xfrm>
                <a:off x="7545613" y="165498"/>
                <a:ext cx="1800000" cy="242094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  <a:defRPr/>
                </a:pPr>
                <a:r>
                  <a:rPr lang="en-US" altLang="ko-KR" sz="1050" b="1" i="1" u="sng" dirty="0">
                    <a:solidFill>
                      <a:srgbClr val="FF0000"/>
                    </a:solidFill>
                    <a:latin typeface="나눔바른고딕" pitchFamily="50" charset="-127"/>
                    <a:ea typeface="나눔바른고딕" pitchFamily="50" charset="-127"/>
                  </a:rPr>
                  <a:t> HIGHLY CONFIDENTIAL</a:t>
                </a:r>
              </a:p>
            </p:txBody>
          </p:sp>
          <p:cxnSp>
            <p:nvCxnSpPr>
              <p:cNvPr id="32" name="직선 연결선 31"/>
              <p:cNvCxnSpPr/>
              <p:nvPr/>
            </p:nvCxnSpPr>
            <p:spPr bwMode="auto">
              <a:xfrm>
                <a:off x="7545613" y="407592"/>
                <a:ext cx="1799999" cy="0"/>
              </a:xfrm>
              <a:prstGeom prst="line">
                <a:avLst/>
              </a:prstGeom>
              <a:grp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10915509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52650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k\Desktop\body_swoop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-12700"/>
            <a:ext cx="9901238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704861" y="2469656"/>
            <a:ext cx="5850650" cy="551680"/>
          </a:xfrm>
          <a:prstGeom prst="rect">
            <a:avLst/>
          </a:prstGeom>
        </p:spPr>
        <p:txBody>
          <a:bodyPr anchor="ctr"/>
          <a:lstStyle>
            <a:lvl1pPr algn="r">
              <a:defRPr sz="3198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0"/>
          </p:nvPr>
        </p:nvSpPr>
        <p:spPr>
          <a:xfrm>
            <a:off x="3704895" y="3140646"/>
            <a:ext cx="5850649" cy="216346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799"/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8094017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1" y="6356359"/>
            <a:ext cx="2311399" cy="365125"/>
          </a:xfrm>
          <a:prstGeom prst="rect">
            <a:avLst/>
          </a:prstGeom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fld id="{93D46EE7-5415-4EAE-85B0-E0187AC8399A}" type="datetimeFigureOut">
              <a:rPr kumimoji="1" lang="ko-KR" altLang="en-US" sz="1199" smtClean="0">
                <a:solidFill>
                  <a:prstClr val="black">
                    <a:tint val="7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t>2026-01-25</a:t>
            </a:fld>
            <a:endParaRPr kumimoji="1" lang="ko-KR" altLang="en-US" sz="1199">
              <a:solidFill>
                <a:prstClr val="black">
                  <a:tint val="7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2" y="6356359"/>
            <a:ext cx="3136900" cy="365125"/>
          </a:xfrm>
          <a:prstGeom prst="rect">
            <a:avLst/>
          </a:prstGeom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199">
              <a:solidFill>
                <a:prstClr val="black">
                  <a:tint val="7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4" y="6356359"/>
            <a:ext cx="2311399" cy="365125"/>
          </a:xfrm>
          <a:prstGeom prst="rect">
            <a:avLst/>
          </a:prstGeom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fld id="{EC01A661-B571-494D-8C90-2F61155DF825}" type="slidenum">
              <a:rPr kumimoji="1" lang="ko-KR" altLang="en-US" sz="1199" smtClean="0">
                <a:solidFill>
                  <a:prstClr val="black">
                    <a:tint val="7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sz="1199">
              <a:solidFill>
                <a:prstClr val="black">
                  <a:tint val="7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Line 32"/>
          <p:cNvSpPr>
            <a:spLocks noChangeShapeType="1"/>
          </p:cNvSpPr>
          <p:nvPr userDrawn="1"/>
        </p:nvSpPr>
        <p:spPr bwMode="auto">
          <a:xfrm>
            <a:off x="74649" y="536484"/>
            <a:ext cx="9718584" cy="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ko-KR" altLang="en-US" sz="1757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732355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03790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58793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_’21.03.19.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58793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전정일 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536223" y="6616020"/>
            <a:ext cx="83252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NN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54111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4536223" y="6616020"/>
            <a:ext cx="83252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NN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58793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_’21.03.19.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58793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전정일 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676306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929559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067446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731364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804045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562452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126438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41217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29098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_2021.03.15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이석제</a:t>
            </a:r>
            <a:r>
              <a:rPr lang="en-US" altLang="ko-KR" dirty="0"/>
              <a:t> </a:t>
            </a:r>
            <a:r>
              <a:rPr lang="ko-KR" altLang="en-US" dirty="0"/>
              <a:t>부장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602916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674177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840255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536958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573694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53233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84224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74089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31324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880879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258199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137034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607516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668385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8412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32107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896129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93268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853096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19626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093695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66507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083173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18839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 err="1"/>
              <a:t>심의자료</a:t>
            </a:r>
            <a:r>
              <a:rPr lang="ko-KR" altLang="en-US" dirty="0"/>
              <a:t> </a:t>
            </a:r>
            <a:r>
              <a:rPr lang="en-US" altLang="ko-KR" dirty="0"/>
              <a:t>‘21-03-12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113816" y="6631409"/>
            <a:ext cx="1444874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보전관리팀</a:t>
            </a:r>
            <a:r>
              <a:rPr lang="ko-KR" altLang="en-US" dirty="0"/>
              <a:t> 김동천 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7 -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89771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615132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95785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10571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47049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22718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6 -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21627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심의자료</a:t>
            </a:r>
            <a:r>
              <a:rPr lang="en-US" altLang="ko-KR" dirty="0"/>
              <a:t>_’21.04.05.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9 -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82069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9 -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0115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58793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_’21.04.19.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58793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전정일 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536223" y="6616020"/>
            <a:ext cx="83252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NN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61152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58793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_’21.04.19.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1" y="6658793"/>
            <a:ext cx="758789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이기수 사원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5 -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996370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624961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943350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818713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631132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45267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6449825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228003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30147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843233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933457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0424470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696704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3177720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심의자료</a:t>
            </a:r>
            <a:r>
              <a:rPr lang="en-US" altLang="ko-KR" dirty="0"/>
              <a:t>_6,7R/M </a:t>
            </a:r>
            <a:r>
              <a:rPr lang="ko-KR" altLang="en-US" dirty="0"/>
              <a:t>경석 </a:t>
            </a:r>
            <a:r>
              <a:rPr lang="en-US" altLang="ko-KR" dirty="0"/>
              <a:t>Apron Feed </a:t>
            </a:r>
            <a:r>
              <a:rPr lang="ko-KR" altLang="en-US" dirty="0" err="1"/>
              <a:t>교체공사</a:t>
            </a:r>
            <a:r>
              <a:rPr lang="en-US" altLang="ko-KR" dirty="0"/>
              <a:t>_21.04.19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1" y="6631409"/>
            <a:ext cx="758789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김은석 부장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2243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698744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3177720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심의자료</a:t>
            </a:r>
            <a:r>
              <a:rPr lang="en-US" altLang="ko-KR" dirty="0"/>
              <a:t>_6,7R/M </a:t>
            </a:r>
            <a:r>
              <a:rPr lang="ko-KR" altLang="en-US" dirty="0"/>
              <a:t>경석 </a:t>
            </a:r>
            <a:r>
              <a:rPr lang="en-US" altLang="ko-KR" dirty="0"/>
              <a:t>Apron Feed </a:t>
            </a:r>
            <a:r>
              <a:rPr lang="ko-KR" altLang="en-US" dirty="0" err="1"/>
              <a:t>교체공사</a:t>
            </a:r>
            <a:r>
              <a:rPr lang="en-US" altLang="ko-KR" dirty="0"/>
              <a:t>_21.04.19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9030734" y="6631409"/>
            <a:ext cx="527956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생산</a:t>
            </a:r>
            <a:r>
              <a:rPr lang="en-US" altLang="ko-KR" dirty="0"/>
              <a:t>2</a:t>
            </a:r>
            <a:r>
              <a:rPr lang="ko-KR" altLang="en-US" dirty="0"/>
              <a:t>팀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56063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794891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6"/>
          <p:cNvGrpSpPr>
            <a:grpSpLocks/>
          </p:cNvGrpSpPr>
          <p:nvPr userDrawn="1"/>
        </p:nvGrpSpPr>
        <p:grpSpPr bwMode="auto">
          <a:xfrm>
            <a:off x="87313" y="621258"/>
            <a:ext cx="9725025" cy="71438"/>
            <a:chOff x="87982" y="692704"/>
            <a:chExt cx="9720000" cy="38571"/>
          </a:xfrm>
        </p:grpSpPr>
        <p:sp>
          <p:nvSpPr>
            <p:cNvPr id="9" name="직사각형 8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87982" y="692704"/>
              <a:ext cx="2879823" cy="3857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045600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1" y="6631409"/>
            <a:ext cx="758789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이수동 부장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8 -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94644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88638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70543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66219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763337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25690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072971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6746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697853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301085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092234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819889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178717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154165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1767895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28346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29837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1451637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5281898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892471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605328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563856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A49282-C4F2-47BA-BA69-EAACD024BBB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311638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93982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493074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69505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879386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507251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730269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350115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9751272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208494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705611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134825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86719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783892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728015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8015813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345691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32782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23565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45751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02148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119025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g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Slag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166785175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FA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2791169155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물류/고정비/인원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5" y="6515406"/>
            <a:ext cx="227288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물류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고정비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인원</a:t>
            </a:r>
          </a:p>
        </p:txBody>
      </p:sp>
    </p:spTree>
    <p:extLst>
      <p:ext uri="{BB962C8B-B14F-4D97-AF65-F5344CB8AC3E}">
        <p14:creationId xmlns:p14="http://schemas.microsoft.com/office/powerpoint/2010/main" val="3273934037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371162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4"/>
          <p:cNvSpPr>
            <a:spLocks noChangeArrowheads="1"/>
          </p:cNvSpPr>
          <p:nvPr userDrawn="1"/>
        </p:nvSpPr>
        <p:spPr bwMode="auto">
          <a:xfrm>
            <a:off x="653951" y="982678"/>
            <a:ext cx="8411120" cy="1736981"/>
          </a:xfrm>
          <a:prstGeom prst="roundRect">
            <a:avLst>
              <a:gd name="adj" fmla="val 16667"/>
            </a:avLst>
          </a:prstGeom>
          <a:noFill/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Rectangle 17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2072680" y="5795362"/>
            <a:ext cx="5668433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20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Tahoma" pitchFamily="34" charset="0"/>
            </a:endParaRPr>
          </a:p>
        </p:txBody>
      </p:sp>
      <p:cxnSp>
        <p:nvCxnSpPr>
          <p:cNvPr id="27" name="직선 연결선 26"/>
          <p:cNvCxnSpPr/>
          <p:nvPr userDrawn="1"/>
        </p:nvCxnSpPr>
        <p:spPr bwMode="auto">
          <a:xfrm>
            <a:off x="852387" y="2259819"/>
            <a:ext cx="8205069" cy="0"/>
          </a:xfrm>
          <a:prstGeom prst="line">
            <a:avLst/>
          </a:prstGeom>
          <a:solidFill>
            <a:srgbClr val="4F81BD"/>
          </a:solidFill>
          <a:ln w="3175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8" name="그룹 27"/>
          <p:cNvGrpSpPr/>
          <p:nvPr userDrawn="1"/>
        </p:nvGrpSpPr>
        <p:grpSpPr>
          <a:xfrm>
            <a:off x="7944757" y="21754"/>
            <a:ext cx="1920454" cy="360041"/>
            <a:chOff x="7164488" y="113705"/>
            <a:chExt cx="1800000" cy="300437"/>
          </a:xfrm>
          <a:solidFill>
            <a:sysClr val="window" lastClr="FFFFFF"/>
          </a:solidFill>
        </p:grpSpPr>
        <p:sp>
          <p:nvSpPr>
            <p:cNvPr id="29" name="Rectangle 148"/>
            <p:cNvSpPr>
              <a:spLocks noChangeArrowheads="1"/>
            </p:cNvSpPr>
            <p:nvPr/>
          </p:nvSpPr>
          <p:spPr bwMode="auto">
            <a:xfrm>
              <a:off x="7164488" y="273845"/>
              <a:ext cx="1800000" cy="140297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1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바른고딕" pitchFamily="50" charset="-127"/>
                  <a:ea typeface="나눔바른고딕" pitchFamily="50" charset="-127"/>
                  <a:cs typeface="+mn-cs"/>
                </a:rPr>
                <a:t> VERY PRELIMINARY</a:t>
              </a:r>
            </a:p>
          </p:txBody>
        </p:sp>
        <p:grpSp>
          <p:nvGrpSpPr>
            <p:cNvPr id="30" name="그룹 29"/>
            <p:cNvGrpSpPr/>
            <p:nvPr/>
          </p:nvGrpSpPr>
          <p:grpSpPr>
            <a:xfrm>
              <a:off x="7164488" y="113705"/>
              <a:ext cx="1800000" cy="140297"/>
              <a:chOff x="7545613" y="165498"/>
              <a:chExt cx="1800000" cy="242094"/>
            </a:xfrm>
            <a:grpFill/>
          </p:grpSpPr>
          <p:sp>
            <p:nvSpPr>
              <p:cNvPr id="31" name="Rectangle 148"/>
              <p:cNvSpPr>
                <a:spLocks noChangeArrowheads="1"/>
              </p:cNvSpPr>
              <p:nvPr/>
            </p:nvSpPr>
            <p:spPr bwMode="auto">
              <a:xfrm>
                <a:off x="7545613" y="165498"/>
                <a:ext cx="1800000" cy="242094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나눔바른고딕" pitchFamily="50" charset="-127"/>
                    <a:ea typeface="나눔바른고딕" pitchFamily="50" charset="-127"/>
                    <a:cs typeface="+mn-cs"/>
                  </a:rPr>
                  <a:t> HIGHLY CONFIDENTIAL</a:t>
                </a:r>
              </a:p>
            </p:txBody>
          </p:sp>
          <p:cxnSp>
            <p:nvCxnSpPr>
              <p:cNvPr id="32" name="직선 연결선 31"/>
              <p:cNvCxnSpPr/>
              <p:nvPr/>
            </p:nvCxnSpPr>
            <p:spPr bwMode="auto">
              <a:xfrm>
                <a:off x="7545613" y="407592"/>
                <a:ext cx="1799999" cy="0"/>
              </a:xfrm>
              <a:prstGeom prst="line">
                <a:avLst/>
              </a:prstGeom>
              <a:grp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847959765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D09F7E1F-AB8D-4449-BA48-867492EAFA2A}" type="slidenum"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tabLst/>
                <a:defRPr/>
              </a:pPr>
              <a:t>‹#›</a:t>
            </a:fld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/ 16 -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447031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351397" y="25401"/>
            <a:ext cx="160998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</a:t>
            </a:r>
            <a:r>
              <a:rPr lang="en-US" altLang="ko-KR"/>
              <a:t>Main Title</a:t>
            </a:r>
            <a:endParaRPr lang="ko-KR" altLang="en-US" dirty="0"/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2" name="직사각형 11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5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D09F7E1F-AB8D-4449-BA48-867492EAFA2A}" type="slidenum"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tabLst/>
                <a:defRPr/>
              </a:pPr>
              <a:t>‹#›</a:t>
            </a:fld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 / 16 -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539741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A49282-C4F2-47BA-BA69-EAACD024BBB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821215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119455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884683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0347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583179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282499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61452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566909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5139861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74969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055458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964730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5319677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642575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727754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814914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315472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72987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13331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40994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082902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2774453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g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Slag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251857145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FA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2238011370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물류/고정비/인원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5" y="6515406"/>
            <a:ext cx="227288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물류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고정비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인원</a:t>
            </a:r>
          </a:p>
        </p:txBody>
      </p:sp>
    </p:spTree>
    <p:extLst>
      <p:ext uri="{BB962C8B-B14F-4D97-AF65-F5344CB8AC3E}">
        <p14:creationId xmlns:p14="http://schemas.microsoft.com/office/powerpoint/2010/main" val="407187335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869679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351397" y="25401"/>
            <a:ext cx="160998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</a:t>
            </a:r>
            <a:r>
              <a:rPr lang="en-US" altLang="ko-KR"/>
              <a:t>Main Title</a:t>
            </a:r>
            <a:endParaRPr lang="ko-KR" altLang="en-US" dirty="0"/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2" name="직사각형 11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5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 </a:t>
            </a:r>
            <a:fld id="{D09F7E1F-AB8D-4449-BA48-867492EAFA2A}" type="slidenum"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tabLst/>
                <a:defRPr/>
              </a:pPr>
              <a:t>‹#›</a:t>
            </a:fld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/ 17 -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81739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351397" y="25401"/>
            <a:ext cx="160998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</a:t>
            </a:r>
            <a:r>
              <a:rPr lang="en-US" altLang="ko-KR"/>
              <a:t>Main Title</a:t>
            </a:r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D09F7E1F-AB8D-4449-BA48-867492EAFA2A}" type="slidenum"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tabLst/>
                <a:defRPr/>
              </a:pPr>
              <a:t>‹#›</a:t>
            </a:fld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/ 10 -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040078" y="6631409"/>
            <a:ext cx="1518612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홍길동</a:t>
            </a:r>
            <a:r>
              <a:rPr lang="en-US" altLang="ko-KR" dirty="0"/>
              <a:t> </a:t>
            </a:r>
            <a:r>
              <a:rPr lang="ko-KR" altLang="en-US" dirty="0"/>
              <a:t>부장</a:t>
            </a:r>
            <a:r>
              <a:rPr lang="en-US" altLang="ko-KR" dirty="0"/>
              <a:t>, </a:t>
            </a:r>
            <a:r>
              <a:rPr lang="ko-KR" altLang="en-US" dirty="0"/>
              <a:t>홍두깨</a:t>
            </a:r>
            <a:r>
              <a:rPr lang="en-US" altLang="ko-KR" dirty="0"/>
              <a:t> </a:t>
            </a:r>
            <a:r>
              <a:rPr lang="ko-KR" altLang="en-US" dirty="0"/>
              <a:t>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" name="텍스트 개체 틀 16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44488" y="6631409"/>
            <a:ext cx="2079663" cy="2265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indent="0">
              <a:buNone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주간회의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(‘20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年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月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주차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)_’20.08.18.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341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theme" Target="../theme/theme4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theme" Target="../theme/theme6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8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13.xml"/><Relationship Id="rId21" Type="http://schemas.openxmlformats.org/officeDocument/2006/relationships/slideLayout" Target="../slideLayouts/slideLayout108.xml"/><Relationship Id="rId34" Type="http://schemas.openxmlformats.org/officeDocument/2006/relationships/slideLayout" Target="../slideLayouts/slideLayout121.xml"/><Relationship Id="rId42" Type="http://schemas.openxmlformats.org/officeDocument/2006/relationships/slideLayout" Target="../slideLayouts/slideLayout129.xml"/><Relationship Id="rId47" Type="http://schemas.openxmlformats.org/officeDocument/2006/relationships/slideLayout" Target="../slideLayouts/slideLayout134.xml"/><Relationship Id="rId50" Type="http://schemas.openxmlformats.org/officeDocument/2006/relationships/slideLayout" Target="../slideLayouts/slideLayout137.xml"/><Relationship Id="rId55" Type="http://schemas.openxmlformats.org/officeDocument/2006/relationships/slideLayout" Target="../slideLayouts/slideLayout142.xml"/><Relationship Id="rId63" Type="http://schemas.openxmlformats.org/officeDocument/2006/relationships/theme" Target="../theme/theme8.xml"/><Relationship Id="rId7" Type="http://schemas.openxmlformats.org/officeDocument/2006/relationships/slideLayout" Target="../slideLayouts/slideLayout94.xml"/><Relationship Id="rId2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03.xml"/><Relationship Id="rId29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111.xml"/><Relationship Id="rId32" Type="http://schemas.openxmlformats.org/officeDocument/2006/relationships/slideLayout" Target="../slideLayouts/slideLayout119.xml"/><Relationship Id="rId37" Type="http://schemas.openxmlformats.org/officeDocument/2006/relationships/slideLayout" Target="../slideLayouts/slideLayout124.xml"/><Relationship Id="rId40" Type="http://schemas.openxmlformats.org/officeDocument/2006/relationships/slideLayout" Target="../slideLayouts/slideLayout127.xml"/><Relationship Id="rId45" Type="http://schemas.openxmlformats.org/officeDocument/2006/relationships/slideLayout" Target="../slideLayouts/slideLayout132.xml"/><Relationship Id="rId53" Type="http://schemas.openxmlformats.org/officeDocument/2006/relationships/slideLayout" Target="../slideLayouts/slideLayout140.xml"/><Relationship Id="rId58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92.xml"/><Relationship Id="rId61" Type="http://schemas.openxmlformats.org/officeDocument/2006/relationships/slideLayout" Target="../slideLayouts/slideLayout148.xml"/><Relationship Id="rId19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01.xml"/><Relationship Id="rId22" Type="http://schemas.openxmlformats.org/officeDocument/2006/relationships/slideLayout" Target="../slideLayouts/slideLayout109.xml"/><Relationship Id="rId27" Type="http://schemas.openxmlformats.org/officeDocument/2006/relationships/slideLayout" Target="../slideLayouts/slideLayout114.xml"/><Relationship Id="rId30" Type="http://schemas.openxmlformats.org/officeDocument/2006/relationships/slideLayout" Target="../slideLayouts/slideLayout117.xml"/><Relationship Id="rId35" Type="http://schemas.openxmlformats.org/officeDocument/2006/relationships/slideLayout" Target="../slideLayouts/slideLayout122.xml"/><Relationship Id="rId43" Type="http://schemas.openxmlformats.org/officeDocument/2006/relationships/slideLayout" Target="../slideLayouts/slideLayout130.xml"/><Relationship Id="rId48" Type="http://schemas.openxmlformats.org/officeDocument/2006/relationships/slideLayout" Target="../slideLayouts/slideLayout135.xml"/><Relationship Id="rId56" Type="http://schemas.openxmlformats.org/officeDocument/2006/relationships/slideLayout" Target="../slideLayouts/slideLayout143.xml"/><Relationship Id="rId64" Type="http://schemas.openxmlformats.org/officeDocument/2006/relationships/image" Target="../media/image1.png"/><Relationship Id="rId8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4.xml"/><Relationship Id="rId25" Type="http://schemas.openxmlformats.org/officeDocument/2006/relationships/slideLayout" Target="../slideLayouts/slideLayout112.xml"/><Relationship Id="rId33" Type="http://schemas.openxmlformats.org/officeDocument/2006/relationships/slideLayout" Target="../slideLayouts/slideLayout120.xml"/><Relationship Id="rId38" Type="http://schemas.openxmlformats.org/officeDocument/2006/relationships/slideLayout" Target="../slideLayouts/slideLayout125.xml"/><Relationship Id="rId46" Type="http://schemas.openxmlformats.org/officeDocument/2006/relationships/slideLayout" Target="../slideLayouts/slideLayout133.xml"/><Relationship Id="rId59" Type="http://schemas.openxmlformats.org/officeDocument/2006/relationships/slideLayout" Target="../slideLayouts/slideLayout146.xml"/><Relationship Id="rId20" Type="http://schemas.openxmlformats.org/officeDocument/2006/relationships/slideLayout" Target="../slideLayouts/slideLayout107.xml"/><Relationship Id="rId41" Type="http://schemas.openxmlformats.org/officeDocument/2006/relationships/slideLayout" Target="../slideLayouts/slideLayout128.xml"/><Relationship Id="rId54" Type="http://schemas.openxmlformats.org/officeDocument/2006/relationships/slideLayout" Target="../slideLayouts/slideLayout141.xml"/><Relationship Id="rId62" Type="http://schemas.openxmlformats.org/officeDocument/2006/relationships/slideLayout" Target="../slideLayouts/slideLayout14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2.xml"/><Relationship Id="rId23" Type="http://schemas.openxmlformats.org/officeDocument/2006/relationships/slideLayout" Target="../slideLayouts/slideLayout110.xml"/><Relationship Id="rId28" Type="http://schemas.openxmlformats.org/officeDocument/2006/relationships/slideLayout" Target="../slideLayouts/slideLayout115.xml"/><Relationship Id="rId36" Type="http://schemas.openxmlformats.org/officeDocument/2006/relationships/slideLayout" Target="../slideLayouts/slideLayout123.xml"/><Relationship Id="rId49" Type="http://schemas.openxmlformats.org/officeDocument/2006/relationships/slideLayout" Target="../slideLayouts/slideLayout136.xml"/><Relationship Id="rId57" Type="http://schemas.openxmlformats.org/officeDocument/2006/relationships/slideLayout" Target="../slideLayouts/slideLayout144.xml"/><Relationship Id="rId10" Type="http://schemas.openxmlformats.org/officeDocument/2006/relationships/slideLayout" Target="../slideLayouts/slideLayout97.xml"/><Relationship Id="rId31" Type="http://schemas.openxmlformats.org/officeDocument/2006/relationships/slideLayout" Target="../slideLayouts/slideLayout118.xml"/><Relationship Id="rId44" Type="http://schemas.openxmlformats.org/officeDocument/2006/relationships/slideLayout" Target="../slideLayouts/slideLayout131.xml"/><Relationship Id="rId52" Type="http://schemas.openxmlformats.org/officeDocument/2006/relationships/slideLayout" Target="../slideLayouts/slideLayout139.xml"/><Relationship Id="rId60" Type="http://schemas.openxmlformats.org/officeDocument/2006/relationships/slideLayout" Target="../slideLayouts/slideLayout147.xml"/><Relationship Id="rId65" Type="http://schemas.openxmlformats.org/officeDocument/2006/relationships/image" Target="../media/image2.jpeg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105.xml"/><Relationship Id="rId39" Type="http://schemas.openxmlformats.org/officeDocument/2006/relationships/slideLayout" Target="../slideLayouts/slideLayout12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5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52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54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56.xml"/><Relationship Id="rId4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Relationship Id="rId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4.xml"/><Relationship Id="rId2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62.xml"/><Relationship Id="rId4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7.xml"/><Relationship Id="rId2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65.xml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0.xml"/><Relationship Id="rId2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68.xml"/><Relationship Id="rId4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8.xml"/><Relationship Id="rId13" Type="http://schemas.openxmlformats.org/officeDocument/2006/relationships/slideLayout" Target="../slideLayouts/slideLayout183.xml"/><Relationship Id="rId18" Type="http://schemas.openxmlformats.org/officeDocument/2006/relationships/slideLayout" Target="../slideLayouts/slideLayout188.xml"/><Relationship Id="rId26" Type="http://schemas.openxmlformats.org/officeDocument/2006/relationships/slideLayout" Target="../slideLayouts/slideLayout196.xml"/><Relationship Id="rId3" Type="http://schemas.openxmlformats.org/officeDocument/2006/relationships/slideLayout" Target="../slideLayouts/slideLayout173.xml"/><Relationship Id="rId21" Type="http://schemas.openxmlformats.org/officeDocument/2006/relationships/slideLayout" Target="../slideLayouts/slideLayout191.xml"/><Relationship Id="rId7" Type="http://schemas.openxmlformats.org/officeDocument/2006/relationships/slideLayout" Target="../slideLayouts/slideLayout177.xml"/><Relationship Id="rId12" Type="http://schemas.openxmlformats.org/officeDocument/2006/relationships/slideLayout" Target="../slideLayouts/slideLayout182.xml"/><Relationship Id="rId17" Type="http://schemas.openxmlformats.org/officeDocument/2006/relationships/slideLayout" Target="../slideLayouts/slideLayout187.xml"/><Relationship Id="rId25" Type="http://schemas.openxmlformats.org/officeDocument/2006/relationships/slideLayout" Target="../slideLayouts/slideLayout195.xml"/><Relationship Id="rId2" Type="http://schemas.openxmlformats.org/officeDocument/2006/relationships/slideLayout" Target="../slideLayouts/slideLayout172.xml"/><Relationship Id="rId16" Type="http://schemas.openxmlformats.org/officeDocument/2006/relationships/slideLayout" Target="../slideLayouts/slideLayout186.xml"/><Relationship Id="rId20" Type="http://schemas.openxmlformats.org/officeDocument/2006/relationships/slideLayout" Target="../slideLayouts/slideLayout190.xml"/><Relationship Id="rId29" Type="http://schemas.openxmlformats.org/officeDocument/2006/relationships/slideLayout" Target="../slideLayouts/slideLayout199.xml"/><Relationship Id="rId1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81.xml"/><Relationship Id="rId24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75.xml"/><Relationship Id="rId15" Type="http://schemas.openxmlformats.org/officeDocument/2006/relationships/slideLayout" Target="../slideLayouts/slideLayout185.xml"/><Relationship Id="rId23" Type="http://schemas.openxmlformats.org/officeDocument/2006/relationships/slideLayout" Target="../slideLayouts/slideLayout193.xml"/><Relationship Id="rId28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80.xml"/><Relationship Id="rId19" Type="http://schemas.openxmlformats.org/officeDocument/2006/relationships/slideLayout" Target="../slideLayouts/slideLayout189.xml"/><Relationship Id="rId4" Type="http://schemas.openxmlformats.org/officeDocument/2006/relationships/slideLayout" Target="../slideLayouts/slideLayout174.xml"/><Relationship Id="rId9" Type="http://schemas.openxmlformats.org/officeDocument/2006/relationships/slideLayout" Target="../slideLayouts/slideLayout179.xml"/><Relationship Id="rId14" Type="http://schemas.openxmlformats.org/officeDocument/2006/relationships/slideLayout" Target="../slideLayouts/slideLayout184.xml"/><Relationship Id="rId22" Type="http://schemas.openxmlformats.org/officeDocument/2006/relationships/slideLayout" Target="../slideLayouts/slideLayout192.xml"/><Relationship Id="rId27" Type="http://schemas.openxmlformats.org/officeDocument/2006/relationships/slideLayout" Target="../slideLayouts/slideLayout197.xml"/><Relationship Id="rId30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7.xml"/><Relationship Id="rId13" Type="http://schemas.openxmlformats.org/officeDocument/2006/relationships/slideLayout" Target="../slideLayouts/slideLayout212.xml"/><Relationship Id="rId18" Type="http://schemas.openxmlformats.org/officeDocument/2006/relationships/slideLayout" Target="../slideLayouts/slideLayout217.xml"/><Relationship Id="rId26" Type="http://schemas.openxmlformats.org/officeDocument/2006/relationships/slideLayout" Target="../slideLayouts/slideLayout225.xml"/><Relationship Id="rId3" Type="http://schemas.openxmlformats.org/officeDocument/2006/relationships/slideLayout" Target="../slideLayouts/slideLayout202.xml"/><Relationship Id="rId21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06.xml"/><Relationship Id="rId12" Type="http://schemas.openxmlformats.org/officeDocument/2006/relationships/slideLayout" Target="../slideLayouts/slideLayout211.xml"/><Relationship Id="rId17" Type="http://schemas.openxmlformats.org/officeDocument/2006/relationships/slideLayout" Target="../slideLayouts/slideLayout216.xml"/><Relationship Id="rId25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201.xml"/><Relationship Id="rId16" Type="http://schemas.openxmlformats.org/officeDocument/2006/relationships/slideLayout" Target="../slideLayouts/slideLayout215.xml"/><Relationship Id="rId20" Type="http://schemas.openxmlformats.org/officeDocument/2006/relationships/slideLayout" Target="../slideLayouts/slideLayout219.xml"/><Relationship Id="rId29" Type="http://schemas.openxmlformats.org/officeDocument/2006/relationships/theme" Target="../theme/theme18.xml"/><Relationship Id="rId1" Type="http://schemas.openxmlformats.org/officeDocument/2006/relationships/slideLayout" Target="../slideLayouts/slideLayout200.xml"/><Relationship Id="rId6" Type="http://schemas.openxmlformats.org/officeDocument/2006/relationships/slideLayout" Target="../slideLayouts/slideLayout205.xml"/><Relationship Id="rId11" Type="http://schemas.openxmlformats.org/officeDocument/2006/relationships/slideLayout" Target="../slideLayouts/slideLayout210.xml"/><Relationship Id="rId24" Type="http://schemas.openxmlformats.org/officeDocument/2006/relationships/slideLayout" Target="../slideLayouts/slideLayout223.xml"/><Relationship Id="rId5" Type="http://schemas.openxmlformats.org/officeDocument/2006/relationships/slideLayout" Target="../slideLayouts/slideLayout204.xml"/><Relationship Id="rId15" Type="http://schemas.openxmlformats.org/officeDocument/2006/relationships/slideLayout" Target="../slideLayouts/slideLayout214.xml"/><Relationship Id="rId23" Type="http://schemas.openxmlformats.org/officeDocument/2006/relationships/slideLayout" Target="../slideLayouts/slideLayout222.xml"/><Relationship Id="rId28" Type="http://schemas.openxmlformats.org/officeDocument/2006/relationships/slideLayout" Target="../slideLayouts/slideLayout227.xml"/><Relationship Id="rId10" Type="http://schemas.openxmlformats.org/officeDocument/2006/relationships/slideLayout" Target="../slideLayouts/slideLayout209.xml"/><Relationship Id="rId19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03.xml"/><Relationship Id="rId9" Type="http://schemas.openxmlformats.org/officeDocument/2006/relationships/slideLayout" Target="../slideLayouts/slideLayout208.xml"/><Relationship Id="rId14" Type="http://schemas.openxmlformats.org/officeDocument/2006/relationships/slideLayout" Target="../slideLayouts/slideLayout213.xml"/><Relationship Id="rId22" Type="http://schemas.openxmlformats.org/officeDocument/2006/relationships/slideLayout" Target="../slideLayouts/slideLayout221.xml"/><Relationship Id="rId27" Type="http://schemas.openxmlformats.org/officeDocument/2006/relationships/slideLayout" Target="../slideLayouts/slideLayout2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20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4164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fld id="{0D471D78-8768-4547-A6DB-AC251AABF9F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2026-01-25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9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120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6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72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73800" y="6356358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56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  <p:sldLayoutId id="2147483886" r:id="rId21"/>
    <p:sldLayoutId id="2147483887" r:id="rId22"/>
    <p:sldLayoutId id="2147483888" r:id="rId23"/>
    <p:sldLayoutId id="2147483889" r:id="rId24"/>
    <p:sldLayoutId id="2147483890" r:id="rId25"/>
    <p:sldLayoutId id="2147483891" r:id="rId26"/>
    <p:sldLayoutId id="2147483893" r:id="rId27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067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73800" y="6356358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021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  <p:sldLayoutId id="2147483929" r:id="rId18"/>
    <p:sldLayoutId id="2147483930" r:id="rId19"/>
    <p:sldLayoutId id="2147483931" r:id="rId20"/>
    <p:sldLayoutId id="2147483932" r:id="rId21"/>
    <p:sldLayoutId id="2147483933" r:id="rId22"/>
    <p:sldLayoutId id="2147483934" r:id="rId23"/>
    <p:sldLayoutId id="2147483935" r:id="rId24"/>
    <p:sldLayoutId id="2147483936" r:id="rId25"/>
    <p:sldLayoutId id="2147483937" r:id="rId26"/>
    <p:sldLayoutId id="2147483938" r:id="rId27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1" y="1371600"/>
            <a:ext cx="8585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0" tIns="45696" rIns="91390" bIns="456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099" name="Line 32"/>
          <p:cNvSpPr>
            <a:spLocks noChangeShapeType="1"/>
          </p:cNvSpPr>
          <p:nvPr/>
        </p:nvSpPr>
        <p:spPr bwMode="auto">
          <a:xfrm>
            <a:off x="74613" y="549275"/>
            <a:ext cx="9713912" cy="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199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55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</p:sldLayoutIdLst>
  <p:hf sldNum="0"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6971" algn="l" rtl="0" fontAlgn="base" latinLnBrk="1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3943" algn="l" rtl="0" fontAlgn="base" latinLnBrk="1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0914" algn="l" rtl="0" fontAlgn="base" latinLnBrk="1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7886" algn="l" rtl="0" fontAlgn="base" latinLnBrk="1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729" indent="-342729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£"/>
        <a:defRPr kumimoji="1" sz="3198">
          <a:solidFill>
            <a:schemeClr val="tx1"/>
          </a:solidFill>
          <a:latin typeface="+mn-lt"/>
          <a:ea typeface="+mn-ea"/>
          <a:cs typeface="+mn-cs"/>
        </a:defRPr>
      </a:lvl1pPr>
      <a:lvl2pPr marL="742579" indent="-285607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799">
          <a:solidFill>
            <a:schemeClr val="tx1"/>
          </a:solidFill>
          <a:latin typeface="+mn-lt"/>
          <a:ea typeface="+mn-ea"/>
        </a:defRPr>
      </a:lvl2pPr>
      <a:lvl3pPr marL="1142429" indent="-22848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399">
          <a:solidFill>
            <a:schemeClr val="tx1"/>
          </a:solidFill>
          <a:latin typeface="+mn-lt"/>
          <a:ea typeface="+mn-ea"/>
        </a:defRPr>
      </a:lvl3pPr>
      <a:lvl4pPr marL="1599400" indent="-228486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99">
          <a:solidFill>
            <a:schemeClr val="tx1"/>
          </a:solidFill>
          <a:latin typeface="+mn-lt"/>
          <a:ea typeface="+mn-ea"/>
        </a:defRPr>
      </a:lvl4pPr>
      <a:lvl5pPr marL="2056371" indent="-23007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5pPr>
      <a:lvl6pPr marL="2513343" indent="-2300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6pPr>
      <a:lvl7pPr marL="2970314" indent="-2300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7pPr>
      <a:lvl8pPr marL="3427286" indent="-2300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8pPr>
      <a:lvl9pPr marL="3884257" indent="-2300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msk\Desktop\body_swoop.png"/>
          <p:cNvPicPr>
            <a:picLocks noChangeAspect="1" noChangeArrowheads="1"/>
          </p:cNvPicPr>
          <p:nvPr userDrawn="1"/>
        </p:nvPicPr>
        <p:blipFill>
          <a:blip r:embed="rId64" cstate="print">
            <a:lum/>
          </a:blip>
          <a:srcRect/>
          <a:stretch>
            <a:fillRect/>
          </a:stretch>
        </p:blipFill>
        <p:spPr bwMode="auto">
          <a:xfrm>
            <a:off x="3989" y="-221"/>
            <a:ext cx="9902317" cy="1028700"/>
          </a:xfrm>
          <a:prstGeom prst="rect">
            <a:avLst/>
          </a:prstGeom>
          <a:noFill/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6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1" t="15765" r="57446" b="22233"/>
          <a:stretch/>
        </p:blipFill>
        <p:spPr>
          <a:xfrm>
            <a:off x="76198" y="120529"/>
            <a:ext cx="1392071" cy="546857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-1" y="6597352"/>
            <a:ext cx="9906307" cy="2606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99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60" r:id="rId2"/>
    <p:sldLayoutId id="2147483961" r:id="rId3"/>
    <p:sldLayoutId id="2147483962" r:id="rId4"/>
    <p:sldLayoutId id="2147483963" r:id="rId5"/>
    <p:sldLayoutId id="2147483964" r:id="rId6"/>
    <p:sldLayoutId id="2147483965" r:id="rId7"/>
    <p:sldLayoutId id="2147483966" r:id="rId8"/>
    <p:sldLayoutId id="2147483967" r:id="rId9"/>
    <p:sldLayoutId id="2147483968" r:id="rId10"/>
    <p:sldLayoutId id="2147483969" r:id="rId11"/>
    <p:sldLayoutId id="2147483970" r:id="rId12"/>
    <p:sldLayoutId id="2147483971" r:id="rId13"/>
    <p:sldLayoutId id="2147483972" r:id="rId14"/>
    <p:sldLayoutId id="2147483973" r:id="rId15"/>
    <p:sldLayoutId id="2147483974" r:id="rId16"/>
    <p:sldLayoutId id="2147483975" r:id="rId17"/>
    <p:sldLayoutId id="2147483976" r:id="rId18"/>
    <p:sldLayoutId id="2147483977" r:id="rId19"/>
    <p:sldLayoutId id="2147483978" r:id="rId20"/>
    <p:sldLayoutId id="2147483979" r:id="rId21"/>
    <p:sldLayoutId id="2147483980" r:id="rId22"/>
    <p:sldLayoutId id="2147483981" r:id="rId23"/>
    <p:sldLayoutId id="2147483982" r:id="rId24"/>
    <p:sldLayoutId id="2147483983" r:id="rId25"/>
    <p:sldLayoutId id="2147483984" r:id="rId26"/>
    <p:sldLayoutId id="2147483985" r:id="rId27"/>
    <p:sldLayoutId id="2147483986" r:id="rId28"/>
    <p:sldLayoutId id="2147483987" r:id="rId29"/>
    <p:sldLayoutId id="2147483988" r:id="rId30"/>
    <p:sldLayoutId id="2147483989" r:id="rId31"/>
    <p:sldLayoutId id="2147483990" r:id="rId32"/>
    <p:sldLayoutId id="2147483991" r:id="rId33"/>
    <p:sldLayoutId id="2147483992" r:id="rId34"/>
    <p:sldLayoutId id="2147483993" r:id="rId35"/>
    <p:sldLayoutId id="2147483994" r:id="rId36"/>
    <p:sldLayoutId id="2147483995" r:id="rId37"/>
    <p:sldLayoutId id="2147483996" r:id="rId38"/>
    <p:sldLayoutId id="2147483997" r:id="rId39"/>
    <p:sldLayoutId id="2147483998" r:id="rId40"/>
    <p:sldLayoutId id="2147483999" r:id="rId41"/>
    <p:sldLayoutId id="2147484000" r:id="rId42"/>
    <p:sldLayoutId id="2147484001" r:id="rId43"/>
    <p:sldLayoutId id="2147484002" r:id="rId44"/>
    <p:sldLayoutId id="2147484003" r:id="rId45"/>
    <p:sldLayoutId id="2147484004" r:id="rId46"/>
    <p:sldLayoutId id="2147484005" r:id="rId47"/>
    <p:sldLayoutId id="2147484006" r:id="rId48"/>
    <p:sldLayoutId id="2147484007" r:id="rId49"/>
    <p:sldLayoutId id="2147484008" r:id="rId50"/>
    <p:sldLayoutId id="2147484009" r:id="rId51"/>
    <p:sldLayoutId id="2147484010" r:id="rId52"/>
    <p:sldLayoutId id="2147484011" r:id="rId53"/>
    <p:sldLayoutId id="2147484012" r:id="rId54"/>
    <p:sldLayoutId id="2147484013" r:id="rId55"/>
    <p:sldLayoutId id="2147484014" r:id="rId56"/>
    <p:sldLayoutId id="2147484015" r:id="rId57"/>
    <p:sldLayoutId id="2147484016" r:id="rId58"/>
    <p:sldLayoutId id="2147484017" r:id="rId59"/>
    <p:sldLayoutId id="2147484018" r:id="rId60"/>
    <p:sldLayoutId id="2147484019" r:id="rId61"/>
    <p:sldLayoutId id="2147484020" r:id="rId6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809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017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374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44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159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1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28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2" r:id="rId1"/>
    <p:sldLayoutId id="2147484083" r:id="rId2"/>
    <p:sldLayoutId id="2147484085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105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2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563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7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454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2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73800" y="6356358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A49282-C4F2-47BA-BA69-EAACD024BBB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536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4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1" r:id="rId8"/>
    <p:sldLayoutId id="2147484112" r:id="rId9"/>
    <p:sldLayoutId id="2147484113" r:id="rId10"/>
    <p:sldLayoutId id="2147484114" r:id="rId11"/>
    <p:sldLayoutId id="2147484115" r:id="rId12"/>
    <p:sldLayoutId id="2147484116" r:id="rId13"/>
    <p:sldLayoutId id="2147484117" r:id="rId14"/>
    <p:sldLayoutId id="2147484118" r:id="rId15"/>
    <p:sldLayoutId id="2147484119" r:id="rId16"/>
    <p:sldLayoutId id="2147484120" r:id="rId17"/>
    <p:sldLayoutId id="2147484121" r:id="rId18"/>
    <p:sldLayoutId id="2147484122" r:id="rId19"/>
    <p:sldLayoutId id="2147484123" r:id="rId20"/>
    <p:sldLayoutId id="2147484124" r:id="rId21"/>
    <p:sldLayoutId id="2147484125" r:id="rId22"/>
    <p:sldLayoutId id="2147484126" r:id="rId23"/>
    <p:sldLayoutId id="2147484127" r:id="rId24"/>
    <p:sldLayoutId id="2147484128" r:id="rId25"/>
    <p:sldLayoutId id="2147484129" r:id="rId26"/>
    <p:sldLayoutId id="2147484130" r:id="rId27"/>
    <p:sldLayoutId id="2147484131" r:id="rId28"/>
    <p:sldLayoutId id="2147484133" r:id="rId29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73800" y="6356358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A49282-C4F2-47BA-BA69-EAACD024BBB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5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5" r:id="rId1"/>
    <p:sldLayoutId id="2147484136" r:id="rId2"/>
    <p:sldLayoutId id="2147484137" r:id="rId3"/>
    <p:sldLayoutId id="2147484138" r:id="rId4"/>
    <p:sldLayoutId id="2147484139" r:id="rId5"/>
    <p:sldLayoutId id="2147484140" r:id="rId6"/>
    <p:sldLayoutId id="2147484141" r:id="rId7"/>
    <p:sldLayoutId id="2147484142" r:id="rId8"/>
    <p:sldLayoutId id="2147484143" r:id="rId9"/>
    <p:sldLayoutId id="2147484144" r:id="rId10"/>
    <p:sldLayoutId id="2147484145" r:id="rId11"/>
    <p:sldLayoutId id="2147484146" r:id="rId12"/>
    <p:sldLayoutId id="2147484147" r:id="rId13"/>
    <p:sldLayoutId id="2147484148" r:id="rId14"/>
    <p:sldLayoutId id="2147484149" r:id="rId15"/>
    <p:sldLayoutId id="2147484150" r:id="rId16"/>
    <p:sldLayoutId id="2147484151" r:id="rId17"/>
    <p:sldLayoutId id="2147484152" r:id="rId18"/>
    <p:sldLayoutId id="2147484153" r:id="rId19"/>
    <p:sldLayoutId id="2147484154" r:id="rId20"/>
    <p:sldLayoutId id="2147484155" r:id="rId21"/>
    <p:sldLayoutId id="2147484156" r:id="rId22"/>
    <p:sldLayoutId id="2147484157" r:id="rId23"/>
    <p:sldLayoutId id="2147484158" r:id="rId24"/>
    <p:sldLayoutId id="2147484159" r:id="rId25"/>
    <p:sldLayoutId id="2147484160" r:id="rId26"/>
    <p:sldLayoutId id="2147484162" r:id="rId27"/>
    <p:sldLayoutId id="2147484163" r:id="rId28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936419" y="1944528"/>
            <a:ext cx="5968878" cy="480131"/>
          </a:xfrm>
        </p:spPr>
        <p:txBody>
          <a:bodyPr>
            <a:normAutofit/>
          </a:bodyPr>
          <a:lstStyle/>
          <a:p>
            <a:pPr algn="ctr"/>
            <a:r>
              <a:rPr lang="en-US" altLang="ko-KR" sz="2380" b="1" dirty="0"/>
              <a:t>[Aggregate Anseong Site] Electric Shock RCA Report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5"/>
          </p:nvPr>
        </p:nvSpPr>
        <p:spPr>
          <a:xfrm>
            <a:off x="7596216" y="5938959"/>
            <a:ext cx="1210588" cy="313932"/>
          </a:xfrm>
        </p:spPr>
        <p:txBody>
          <a:bodyPr>
            <a:normAutofit/>
          </a:bodyPr>
          <a:lstStyle/>
          <a:p>
            <a:r>
              <a:rPr lang="en-US" altLang="en-US" sz="136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Anseong Site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8033" y="5499518"/>
            <a:ext cx="1242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ko-KR" sz="1360" b="1" cap="all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2024.10.02</a:t>
            </a:r>
            <a:endParaRPr lang="ko-KR" alt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7432" y="3445466"/>
            <a:ext cx="55446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19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503020000020004" pitchFamily="50" charset="-127"/>
              </a:rPr>
              <a:t>Ⅰ. RCA Participants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19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503020000020004" pitchFamily="50" charset="-127"/>
              </a:rPr>
              <a:t>Ⅱ. Accident Summary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19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503020000020004" pitchFamily="50" charset="-127"/>
                <a:cs typeface="Arial" panose="020B0604020202020204" pitchFamily="34" charset="0"/>
              </a:rPr>
              <a:t>Ⅲ. Root Cause Analysis (RCA)</a:t>
            </a:r>
          </a:p>
          <a:p>
            <a:pPr>
              <a:lnSpc>
                <a:spcPct val="200000"/>
              </a:lnSpc>
            </a:pPr>
            <a:r>
              <a:rPr lang="en-US" altLang="ko-KR" sz="119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503020000020004" pitchFamily="50" charset="-127"/>
                <a:cs typeface="Arial" panose="020B0604020202020204" pitchFamily="34" charset="0"/>
              </a:rPr>
              <a:t>Ⅳ. Recurrence Prevention Measures</a:t>
            </a:r>
          </a:p>
          <a:p>
            <a:pPr>
              <a:lnSpc>
                <a:spcPct val="200000"/>
              </a:lnSpc>
            </a:pP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938" y="5398631"/>
            <a:ext cx="1891144" cy="540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05052" y="3092719"/>
            <a:ext cx="112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ko-KR" sz="1360" cap="all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360" b="1" cap="all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Table of Contents</a:t>
            </a:r>
            <a:r>
              <a:rPr lang="en-US" altLang="ko-KR" sz="1360" cap="all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  <a:endParaRPr lang="ko-KR" altLang="en-US" sz="16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3942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520951"/>
              </p:ext>
            </p:extLst>
          </p:nvPr>
        </p:nvGraphicFramePr>
        <p:xfrm>
          <a:off x="619585" y="703509"/>
          <a:ext cx="4304385" cy="2989533"/>
        </p:xfrm>
        <a:graphic>
          <a:graphicData uri="http://schemas.openxmlformats.org/drawingml/2006/table">
            <a:tbl>
              <a:tblPr firstRow="1" bandRow="1"/>
              <a:tblGrid>
                <a:gridCol w="38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76">
                  <a:extLst>
                    <a:ext uri="{9D8B030D-6E8A-4147-A177-3AD203B41FA5}">
                      <a16:colId xmlns:a16="http://schemas.microsoft.com/office/drawing/2014/main" val="1787160014"/>
                    </a:ext>
                  </a:extLst>
                </a:gridCol>
                <a:gridCol w="2059841">
                  <a:extLst>
                    <a:ext uri="{9D8B030D-6E8A-4147-A177-3AD203B41FA5}">
                      <a16:colId xmlns:a16="http://schemas.microsoft.com/office/drawing/2014/main" val="3854450073"/>
                    </a:ext>
                  </a:extLst>
                </a:gridCol>
                <a:gridCol w="1218744">
                  <a:extLst>
                    <a:ext uri="{9D8B030D-6E8A-4147-A177-3AD203B41FA5}">
                      <a16:colId xmlns:a16="http://schemas.microsoft.com/office/drawing/2014/main" val="1881149697"/>
                    </a:ext>
                  </a:extLst>
                </a:gridCol>
              </a:tblGrid>
              <a:tr h="327227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208954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417909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626862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835814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044767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1253721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1462675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1671628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en-US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Name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en-US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Company / Department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en-US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Position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50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Ko Chang-soo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/ Environmental Safety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CSO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4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Yoo Min-cheol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/ Construction Materials Safety Part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Safety Part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486789"/>
                  </a:ext>
                </a:extLst>
              </a:tr>
              <a:tr h="339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Kim Ho-gyeom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Co., Ltd. / Construction Materials Safety Part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Safety Part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533643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Kim Jun-hui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Co., Ltd. / Anseong Site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Production Team Leader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566000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Kim Won-gyu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Co., Ltd. / Anseong Site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Safety Officer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589402"/>
                  </a:ext>
                </a:extLst>
              </a:tr>
              <a:tr h="346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Lee Se-no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Co., Ltd. / Yesan Site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Plant Manager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Lee Wu-su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Co., Ltd. / Yesan Site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Safety Officer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5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Jae-hyeok Han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 Nature Co., Ltd. / Yesan Office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Production Team Leader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282996"/>
              </p:ext>
            </p:extLst>
          </p:nvPr>
        </p:nvGraphicFramePr>
        <p:xfrm>
          <a:off x="675809" y="3830745"/>
          <a:ext cx="8590144" cy="2900981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295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517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en-US" sz="935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</a:rPr>
                        <a:t>Meeting Photo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46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221683"/>
              </p:ext>
            </p:extLst>
          </p:nvPr>
        </p:nvGraphicFramePr>
        <p:xfrm>
          <a:off x="5013581" y="710141"/>
          <a:ext cx="4304385" cy="3199358"/>
        </p:xfrm>
        <a:graphic>
          <a:graphicData uri="http://schemas.openxmlformats.org/drawingml/2006/table">
            <a:tbl>
              <a:tblPr firstRow="1" bandRow="1"/>
              <a:tblGrid>
                <a:gridCol w="38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76">
                  <a:extLst>
                    <a:ext uri="{9D8B030D-6E8A-4147-A177-3AD203B41FA5}">
                      <a16:colId xmlns:a16="http://schemas.microsoft.com/office/drawing/2014/main" val="1787160014"/>
                    </a:ext>
                  </a:extLst>
                </a:gridCol>
                <a:gridCol w="2009245">
                  <a:extLst>
                    <a:ext uri="{9D8B030D-6E8A-4147-A177-3AD203B41FA5}">
                      <a16:colId xmlns:a16="http://schemas.microsoft.com/office/drawing/2014/main" val="3854450073"/>
                    </a:ext>
                  </a:extLst>
                </a:gridCol>
                <a:gridCol w="1269340">
                  <a:extLst>
                    <a:ext uri="{9D8B030D-6E8A-4147-A177-3AD203B41FA5}">
                      <a16:colId xmlns:a16="http://schemas.microsoft.com/office/drawing/2014/main" val="1881149697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208954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417909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626862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835814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044767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1253721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1462675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1671628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en-US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Name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en-US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Company / Affiliation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en-US" sz="102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Position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Bae-u Nam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93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Hongmyeong Industry Co., Ltd.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Office Manager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Young-sun Hwang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93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Hongmyeong Industry Co., Ltd.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en-US" sz="935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Safety Officer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4867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53364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566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5894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935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직사각형 14"/>
          <p:cNvSpPr>
            <a:spLocks noChangeArrowheads="1"/>
          </p:cNvSpPr>
          <p:nvPr/>
        </p:nvSpPr>
        <p:spPr bwMode="auto">
          <a:xfrm>
            <a:off x="163901" y="78297"/>
            <a:ext cx="3717157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norm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360" b="1" dirty="0">
                <a:latin typeface="+mn-ea"/>
              </a:rPr>
              <a:t>Ⅰ. RCA Attendees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6206198" y="35532"/>
            <a:ext cx="3699802" cy="393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indent="0" algn="l" defTabSz="417909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b="1" kern="1200" baseline="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defRPr/>
            </a:pPr>
            <a:r>
              <a:rPr lang="en-US" altLang="ko-KR" sz="1190" dirty="0">
                <a:latin typeface="+mn-ea"/>
              </a:rPr>
              <a:t>RCA (Root Cause Analysis)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305" y="4223109"/>
            <a:ext cx="5495330" cy="240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1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표 39"/>
          <p:cNvGraphicFramePr>
            <a:graphicFrameLocks noGrp="1"/>
          </p:cNvGraphicFramePr>
          <p:nvPr/>
        </p:nvGraphicFramePr>
        <p:xfrm>
          <a:off x="4826719" y="956283"/>
          <a:ext cx="4832670" cy="5735462"/>
        </p:xfrm>
        <a:graphic>
          <a:graphicData uri="http://schemas.openxmlformats.org/drawingml/2006/table">
            <a:tbl>
              <a:tblPr firstRow="1" bandRow="1"/>
              <a:tblGrid>
                <a:gridCol w="4832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620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020" spc="-150" dirty="0">
                          <a:latin typeface="+mn-ea"/>
                          <a:ea typeface="+mn-ea"/>
                        </a:rPr>
                        <a:t>Accident Diagram (Photo)</a:t>
                      </a:r>
                      <a:endParaRPr lang="en-US" altLang="ko-KR" sz="1200" b="1" spc="-150" dirty="0"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chemeClr val="accent4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9842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1" indent="0" algn="l" defTabSz="41790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1000" b="1" spc="-15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91441" marR="91441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" name="표 40"/>
          <p:cNvGraphicFramePr>
            <a:graphicFrameLocks noGrp="1"/>
          </p:cNvGraphicFramePr>
          <p:nvPr/>
        </p:nvGraphicFramePr>
        <p:xfrm>
          <a:off x="298230" y="956284"/>
          <a:ext cx="4464000" cy="6037936"/>
        </p:xfrm>
        <a:graphic>
          <a:graphicData uri="http://schemas.openxmlformats.org/drawingml/2006/table">
            <a:tbl>
              <a:tblPr firstRow="1" bandRow="1"/>
              <a:tblGrid>
                <a:gridCol w="104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845">
                <a:tc gridSpan="4">
                  <a:txBody>
                    <a:bodyPr/>
                    <a:lstStyle>
                      <a:lvl1pPr marL="0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020" spc="-150" dirty="0">
                          <a:latin typeface="+mn-ea"/>
                          <a:ea typeface="+mn-ea"/>
                        </a:rPr>
                        <a:t>Accident Status</a:t>
                      </a:r>
                      <a:endParaRPr lang="en-US" altLang="ko-KR" sz="1200" b="1" spc="-150" dirty="0"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905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latinLnBrk="1">
                        <a:buNone/>
                      </a:pPr>
                      <a:r>
                        <a:rPr lang="en-US" altLang="ko-KR" sz="935" b="1" spc="-150" dirty="0">
                          <a:latin typeface="+mn-ea"/>
                          <a:ea typeface="+mn-ea"/>
                        </a:rPr>
                        <a:t>1. Date and Time / Location</a:t>
                      </a:r>
                      <a:endParaRPr lang="ko-KR" altLang="en-US" sz="1100" b="1" spc="-150" dirty="0"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935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Sept. 27 (Fri), 2024, approx. 10:45 AM / Panel Room</a:t>
                      </a:r>
                      <a:endParaRPr lang="en-US" altLang="ko-KR" sz="11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1441" marR="9144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143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935" b="1" spc="-150" dirty="0">
                          <a:latin typeface="+mn-ea"/>
                          <a:ea typeface="+mn-ea"/>
                        </a:rPr>
                        <a:t>2. Injured Person/Affiliation</a:t>
                      </a:r>
                      <a:endParaRPr lang="en-US" altLang="ko-KR" sz="1100" b="1" spc="-150" dirty="0"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en-US" sz="935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Manager Eun-taek Kim /</a:t>
                      </a:r>
                    </a:p>
                    <a:p>
                      <a:pPr algn="ctr" latinLnBrk="1"/>
                      <a:r>
                        <a:rPr lang="en-US" altLang="en-US" sz="935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Anseong Plant Production Team</a:t>
                      </a:r>
                      <a:endParaRPr lang="en-US" altLang="ko-KR" sz="11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935" b="1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Gender/Age</a:t>
                      </a:r>
                      <a:endParaRPr lang="ko-KR" altLang="en-US" sz="11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en-US" sz="935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Male / Age 30</a:t>
                      </a:r>
                      <a:endParaRPr lang="en-US" altLang="ko-KR" sz="11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143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935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4. Accident Type</a:t>
                      </a:r>
                      <a:endParaRPr lang="ko-KR" altLang="en-US" sz="11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en-US" sz="935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Electric Shock</a:t>
                      </a: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en-US" altLang="ko-KR" sz="935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 Extent of Injury</a:t>
                      </a: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en-US" sz="935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Burn </a:t>
                      </a:r>
                      <a:endParaRPr lang="en-US" altLang="ko-KR" sz="1100" b="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935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(Undergoing hospital treatment)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6425">
                <a:tc gridSpan="4"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102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020" b="1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Accident Summary</a:t>
                      </a:r>
                      <a:endParaRPr lang="ko-KR" altLang="en-US" sz="12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on Friday, Sep 27, 2024, at approx. 10:45 AM, Manager Kim Eun-taek of the Anseong Site Production Team 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was checking whether corrective actions for findings from the August facility inspection 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(VCB panel dust accumulation) had been taken, and while opening the panel to remove the dust 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by blowing on it, an Electric Shock accident occurred 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※ currently hospitalized at Yeongdeungpo Hangang Sacred Heart Hospital after burn treatment at Osong Bestian Hospital 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endParaRPr lang="en-US" altLang="ko-KR" sz="300" b="0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Calibri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en-US" sz="1020" b="1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□ Accident Causes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non-compliance with substation access procedures (insufficient control by safety officer)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LOTOTO not performed (power not disconnected) / shared key management (Production Team)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safety work permit not prepared / two-person rule not followed for inspection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ko-KR" sz="935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insulating PPE not worn 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en-US" sz="1020" b="1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□ Recurrence Prevention Measures</a:t>
                      </a:r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Tx/>
                        <a:buNone/>
                      </a:pPr>
                      <a:r>
                        <a:rPr lang="en-US" altLang="en-US" sz="935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- strengthening substation access procedures (single key management / access log)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Tx/>
                        <a:buNone/>
                      </a:pPr>
                      <a:r>
                        <a:rPr lang="en-US" altLang="ko-KR" sz="935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- implementation of LOTOTO (power disconnection, control box: ASS Controller)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Tx/>
                        <a:buNone/>
                      </a:pPr>
                      <a:r>
                        <a:rPr lang="en-US" altLang="ko-KR" sz="935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- preparing safety work permits / implementation of two-person rule for inspections</a:t>
                      </a:r>
                      <a:endParaRPr lang="en-US" altLang="ko-KR" sz="1100" b="0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Calibri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Tx/>
                        <a:buNone/>
                      </a:pPr>
                      <a:r>
                        <a:rPr lang="en-US" altLang="ko-KR" sz="935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- wearing insulating PPE</a:t>
                      </a:r>
                      <a:endParaRPr lang="en-US" altLang="ko-KR" sz="1100" b="0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18000" marR="18000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2" name="직사각형 41"/>
          <p:cNvSpPr/>
          <p:nvPr/>
        </p:nvSpPr>
        <p:spPr>
          <a:xfrm>
            <a:off x="312958" y="568757"/>
            <a:ext cx="294545" cy="294545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1" lang="ko-KR" altLang="en-US" sz="1600" b="1" kern="0" spc="-150" dirty="0">
              <a:solidFill>
                <a:prstClr val="white"/>
              </a:solidFill>
              <a:latin typeface="+mn-ea"/>
              <a:cs typeface="Arial"/>
              <a:sym typeface="Arial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664710" y="568757"/>
            <a:ext cx="8994679" cy="29454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1" lang="en-US" altLang="en-US" sz="1190" b="1" kern="0" spc="-150" dirty="0">
                <a:solidFill>
                  <a:srgbClr val="0000CC"/>
                </a:solidFill>
                <a:latin typeface="맑은 고딕" panose="020B0503020000020004" pitchFamily="50" charset="-127"/>
                <a:cs typeface="Arial"/>
                <a:sym typeface="Arial"/>
              </a:rPr>
              <a:t>Aggregate Anseong Site Electric Shock Accident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5063136" y="1596600"/>
            <a:ext cx="4325862" cy="4632083"/>
            <a:chOff x="5045718" y="1487973"/>
            <a:chExt cx="4325862" cy="2321451"/>
          </a:xfrm>
        </p:grpSpPr>
        <p:pic>
          <p:nvPicPr>
            <p:cNvPr id="82" name="그림 8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5718" y="1487973"/>
              <a:ext cx="4325862" cy="2321451"/>
            </a:xfrm>
            <a:prstGeom prst="rect">
              <a:avLst/>
            </a:prstGeom>
          </p:spPr>
        </p:pic>
        <p:sp>
          <p:nvSpPr>
            <p:cNvPr id="83" name="직사각형 82"/>
            <p:cNvSpPr/>
            <p:nvPr/>
          </p:nvSpPr>
          <p:spPr>
            <a:xfrm>
              <a:off x="5998528" y="1778045"/>
              <a:ext cx="2583343" cy="1729047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" name="직사각형 9"/>
          <p:cNvSpPr>
            <a:spLocks noChangeArrowheads="1"/>
          </p:cNvSpPr>
          <p:nvPr/>
        </p:nvSpPr>
        <p:spPr bwMode="auto">
          <a:xfrm>
            <a:off x="163901" y="78297"/>
            <a:ext cx="3717157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norm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360" b="1" dirty="0">
                <a:latin typeface="+mn-ea"/>
              </a:rPr>
              <a:t>II. Accident Summary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6206198" y="35532"/>
            <a:ext cx="3699802" cy="393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indent="0" algn="l" defTabSz="417909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b="1" kern="1200" baseline="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defRPr/>
            </a:pPr>
            <a:r>
              <a:rPr lang="en-US" altLang="ko-KR" sz="1190" b="1" dirty="0">
                <a:latin typeface="+mn-ea"/>
              </a:rPr>
              <a:t>RCA (Root Cause Analysis)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65981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  <p:tag name="LLEFT" val=" 278.125"/>
  <p:tag name="LTOP" val=" 254.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  <p:tag name="LLEFT" val=" 278.125"/>
  <p:tag name="LTOP" val=" 254.25"/>
</p:tagLst>
</file>

<file path=ppt/theme/theme1.xml><?xml version="1.0" encoding="utf-8"?>
<a:theme xmlns:a="http://schemas.openxmlformats.org/drawingml/2006/main" name="4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rgbClr val="002060"/>
        </a:solidFill>
        <a:ln w="19050">
          <a:noFill/>
        </a:ln>
      </a:spPr>
      <a:bodyPr wrap="none" lIns="0" tIns="0" rIns="0" bIns="0" rtlCol="0" anchor="ctr">
        <a:noAutofit/>
      </a:bodyPr>
      <a:lstStyle>
        <a:defPPr marL="0" marR="0" indent="0" algn="ctr" defTabSz="914400" rtl="0" eaLnBrk="1" fontAlgn="auto" latinLnBrk="1" hangingPunct="1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100" b="1" dirty="0" smtClean="0">
            <a:solidFill>
              <a:schemeClr val="bg1"/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000" dirty="0">
            <a:latin typeface="+mn-ea"/>
            <a:ea typeface="+mn-ea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1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2_01061005">
  <a:themeElements>
    <a:clrScheme name="0106100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99"/>
      </a:accent1>
      <a:accent2>
        <a:srgbClr val="0C3CA6"/>
      </a:accent2>
      <a:accent3>
        <a:srgbClr val="FFFFFF"/>
      </a:accent3>
      <a:accent4>
        <a:srgbClr val="000000"/>
      </a:accent4>
      <a:accent5>
        <a:srgbClr val="AAAACA"/>
      </a:accent5>
      <a:accent6>
        <a:srgbClr val="0A3596"/>
      </a:accent6>
      <a:hlink>
        <a:srgbClr val="CCCCFF"/>
      </a:hlink>
      <a:folHlink>
        <a:srgbClr val="B2B2B2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3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4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5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6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7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8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9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8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9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45695</TotalTime>
  <Words>482</Words>
  <Application>Microsoft Office PowerPoint</Application>
  <PresentationFormat>A4 용지(210x297mm)</PresentationFormat>
  <Paragraphs>102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18</vt:i4>
      </vt:variant>
      <vt:variant>
        <vt:lpstr>슬라이드 제목</vt:lpstr>
      </vt:variant>
      <vt:variant>
        <vt:i4>3</vt:i4>
      </vt:variant>
    </vt:vector>
  </HeadingPairs>
  <TitlesOfParts>
    <vt:vector size="29" baseType="lpstr">
      <vt:lpstr>HY견고딕</vt:lpstr>
      <vt:lpstr>나눔바른고딕</vt:lpstr>
      <vt:lpstr>맑은 고딕</vt:lpstr>
      <vt:lpstr>Arial</vt:lpstr>
      <vt:lpstr>Arial Black</vt:lpstr>
      <vt:lpstr>Calibri</vt:lpstr>
      <vt:lpstr>Tahoma</vt:lpstr>
      <vt:lpstr>Wingdings</vt:lpstr>
      <vt:lpstr>4_Office 테마</vt:lpstr>
      <vt:lpstr>6_Office 테마</vt:lpstr>
      <vt:lpstr>4_디자인 사용자 지정</vt:lpstr>
      <vt:lpstr>5_Office 테마</vt:lpstr>
      <vt:lpstr>1_보고서배경</vt:lpstr>
      <vt:lpstr>7_Office 테마</vt:lpstr>
      <vt:lpstr>12_01061005</vt:lpstr>
      <vt:lpstr>디자인 사용자 지정</vt:lpstr>
      <vt:lpstr>2_보고서배경</vt:lpstr>
      <vt:lpstr>3_보고서배경</vt:lpstr>
      <vt:lpstr>4_보고서배경</vt:lpstr>
      <vt:lpstr>5_보고서배경</vt:lpstr>
      <vt:lpstr>6_보고서배경</vt:lpstr>
      <vt:lpstr>7_보고서배경</vt:lpstr>
      <vt:lpstr>8_보고서배경</vt:lpstr>
      <vt:lpstr>9_보고서배경</vt:lpstr>
      <vt:lpstr>8_Office 테마</vt:lpstr>
      <vt:lpstr>9_Office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하태준</cp:lastModifiedBy>
  <cp:revision>4693</cp:revision>
  <cp:lastPrinted>2024-09-30T03:45:50Z</cp:lastPrinted>
  <dcterms:created xsi:type="dcterms:W3CDTF">2019-02-10T04:01:02Z</dcterms:created>
  <dcterms:modified xsi:type="dcterms:W3CDTF">2026-01-25T09:00:31Z</dcterms:modified>
</cp:coreProperties>
</file>